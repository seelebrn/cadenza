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b5393c8-1424-d522-1926-506fa68f0587}">
          <p14:sldIdLst>
            <p14:sldId id="256"/>
            <p14:sldId id="257"/>
            <p14:sldId id="258"/>
          </p14:sldIdLst>
        </p14:section>
        <p14:section name="1. Installer Cadenza" id="{c579876d-56dc-3cf8-d6f5-2941055f3df3}">
          <p14:sldIdLst>
            <p14:sldId id="259"/>
            <p14:sldId id="260"/>
            <p14:sldId id="261"/>
            <p14:sldId id="262"/>
            <p14:sldId id="263"/>
          </p14:sldIdLst>
        </p14:section>
        <p14:section name="2. Les bases" id="{2706fa74-960e-d159-fc76-5a90255faaec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3. Analyse thématique" id="{7d6b4447-9df4-c800-9148-a28f650f069c}">
          <p14:sldIdLst>
            <p14:sldId id="271"/>
            <p14:sldId id="272"/>
            <p14:sldId id="273"/>
          </p14:sldIdLst>
        </p14:section>
        <p14:section name="4. IPA" id="{12cd87de-7c68-dd53-117c-7888265d9ff3}">
          <p14:sldIdLst>
            <p14:sldId id="274"/>
            <p14:sldId id="275"/>
            <p14:sldId id="276"/>
          </p14:sldIdLst>
        </p14:section>
        <p14:section name="5. AQA" id="{3327bb82-c709-c0ac-4943-516f97be6a35}">
          <p14:sldIdLst>
            <p14:sldId id="277"/>
            <p14:sldId id="278"/>
            <p14:sldId id="279"/>
          </p14:sldIdLst>
        </p14:section>
        <p14:section name="6. Pour bien démarrer" id="{8352ca41-25ec-6384-d5b4-7e2b33d6dba2}">
          <p14:sldIdLst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Diaporama d’accueil pour les nouveaux utilisateurs de Cadenza. Il peut se lire seul ou servir de support à une courte séance de prise en main (45 minutes environ).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 caractère local : aucune donnée d’entretien ne quitte l’ordinateur, ce qui simplifie les questions de confidentialité.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partie est indépendante : on peut aller directement à la méthode qui nous concerne après les parties 1 et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page en direct si possible. Le piège habituel : la longue liste de fichiers. Un seul compte.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C’est l’étape où les débutants abandonnent. La fenêtre Windows ne montre d’abord qu’un bouton « Ne pas exécuter » : il faut cliquer sur le lien dans le texte.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mise à jour n’est pas automatique : il faut revenir sur la page de téléchargement.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ouvrir le projet d’exemple à tout le monde : c’est sur lui que portent les captures de ce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L’interface est en anglais pour le moment. Tous les libellés cités dans ce guide sont ceux qui apparaissent à l’écran.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cluster est la notion propre à Cadenza : le même objet sert de thème (analyse thématique, IPA) ou de question (AQA).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Démonstration : surligner une phrase, créer un code, puis appliquer un code existant à un autre passage.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note est aussi importante que le code dans Cadenza. Le champ question est facultatif : il sert surtout à l’AQA.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qu’un regroupement fait sur le tableau se retrouve aussitôt dans le panneau de droite du Workspace.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 Go to passage » ramène au texte d’origine depuis n’importe laquelle de ces vues.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phases ne sont pas strictement linéaires : on revient souvent de la phase 4 à la phase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L’exemple « sujet contre thème » est celui qui aide le plus les débutants.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point sensible en IPA est de finir un cas avant de passer au suivant ; Cadenza n’y oblige pas, c’est une discipline à tenir.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Dans le tableau thèmes × cas, cliquer sur une case affiche les extraits des différents cas côte à côte.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AQA, les codes sont facultatifs : l’analyse avance par les questions posées au corpus et les réponses rédigées.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question peut aussi regrouper des codes : les deux approches se combinent.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plan de résultats (« Results draft ») est un squelette à compléter : l’interprétation reste à écrire.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Cadenza n’enregistre pas tout seul : il faut cliquer sur Save. History garde des copies faites au moment des enregistrements.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distribuer : cette diapositive sert d’aide-mémoire.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quatre premiers sont des pièges de méthode, les deux derniers des pièges pratiques.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Être clair sur les limites évite les déceptions : pour l’audio ou le travail en équipe, un autre outil reste nécessaire.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Terminer par une mise en pratique de dix minutes sur le projet d’exemple.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1188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291840" y="2240280"/>
            <a:ext cx="81381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3291840" y="3611880"/>
            <a:ext cx="81381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Cadenza · Guide de démarrage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Cadenza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118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2"/>
                </a:solidFill>
              </a:rPr>
              <a:t>Guide de démarrage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Installer l’application, puis mener une analyse thématique, une IPA ou une analyse par questionnement analytique</a:t>
            </a:r>
            <a:endParaRPr lang="en-US" sz="2000" dirty="0"/>
          </a:p>
        </p:txBody>
      </p:sp>
      <p:sp>
        <p:nvSpPr>
          <p:cNvPr id="4" name="Version 1"/>
          <p:cNvSpPr txBox="1"/>
          <p:nvPr/>
        </p:nvSpPr>
        <p:spPr>
          <a:xfrm>
            <a:off x="82296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Version 0.7.1 · octobre 2026</a:t>
            </a:r>
            <a:endParaRPr lang="en-US" sz="1300" dirty="0"/>
          </a:p>
        </p:txBody>
      </p:sp>
      <p:sp>
        <p:nvSpPr>
          <p:cNvPr id="5" name="Surlignage 2"/>
          <p:cNvSpPr/>
          <p:nvPr/>
        </p:nvSpPr>
        <p:spPr>
          <a:xfrm>
            <a:off x="8778240" y="1737360"/>
            <a:ext cx="2743200" cy="347472"/>
          </a:xfrm>
          <a:prstGeom prst="roundRect">
            <a:avLst>
              <a:gd name="adj" fmla="val 50000"/>
            </a:avLst>
          </a:prstGeom>
          <a:solidFill>
            <a:schemeClr val="accent2">
              <a:alpha val="8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urlignage 3"/>
          <p:cNvSpPr/>
          <p:nvPr/>
        </p:nvSpPr>
        <p:spPr>
          <a:xfrm>
            <a:off x="9418320" y="2304288"/>
            <a:ext cx="2103120" cy="347472"/>
          </a:xfrm>
          <a:prstGeom prst="roundRect">
            <a:avLst>
              <a:gd name="adj" fmla="val 50000"/>
            </a:avLst>
          </a:prstGeom>
          <a:solidFill>
            <a:schemeClr val="accent3">
              <a:alpha val="8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Surlignage 4"/>
          <p:cNvSpPr/>
          <p:nvPr/>
        </p:nvSpPr>
        <p:spPr>
          <a:xfrm>
            <a:off x="9052560" y="2871216"/>
            <a:ext cx="2468880" cy="347472"/>
          </a:xfrm>
          <a:prstGeom prst="roundRect">
            <a:avLst>
              <a:gd name="adj" fmla="val 50000"/>
            </a:avLst>
          </a:prstGeom>
          <a:solidFill>
            <a:schemeClr val="accent4">
              <a:alpha val="85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urlignage 5"/>
          <p:cNvSpPr/>
          <p:nvPr/>
        </p:nvSpPr>
        <p:spPr>
          <a:xfrm>
            <a:off x="9784080" y="3438144"/>
            <a:ext cx="1737360" cy="347472"/>
          </a:xfrm>
          <a:prstGeom prst="roundRect">
            <a:avLst>
              <a:gd name="adj" fmla="val 50000"/>
            </a:avLst>
          </a:prstGeom>
          <a:solidFill>
            <a:schemeClr val="accent5">
              <a:alpha val="8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Surlignage 6"/>
          <p:cNvSpPr/>
          <p:nvPr/>
        </p:nvSpPr>
        <p:spPr>
          <a:xfrm>
            <a:off x="9235440" y="4005072"/>
            <a:ext cx="2286000" cy="347472"/>
          </a:xfrm>
          <a:prstGeom prst="roundRect">
            <a:avLst>
              <a:gd name="adj" fmla="val 50000"/>
            </a:avLst>
          </a:prstGeom>
          <a:solidFill>
            <a:schemeClr val="accent2">
              <a:alpha val="8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Surlignage 7"/>
          <p:cNvSpPr/>
          <p:nvPr/>
        </p:nvSpPr>
        <p:spPr>
          <a:xfrm>
            <a:off x="8686800" y="4572000"/>
            <a:ext cx="2834640" cy="347472"/>
          </a:xfrm>
          <a:prstGeom prst="roundRect">
            <a:avLst>
              <a:gd name="adj" fmla="val 50000"/>
            </a:avLst>
          </a:prstGeom>
          <a:solidFill>
            <a:schemeClr val="accent3">
              <a:alpha val="85000"/>
            </a:schemeClr>
          </a:solidFill>
          <a:ln w="12700">
            <a:solidFill>
              <a:schemeClr val="accent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Cadenza, en bref</a:t>
            </a:r>
            <a:endParaRPr lang="en-US" sz="3400" dirty="0"/>
          </a:p>
        </p:txBody>
      </p:sp>
      <p:sp>
        <p:nvSpPr>
          <p:cNvPr id="4" name="Texte 8"/>
          <p:cNvSpPr txBox="1"/>
          <p:nvPr/>
        </p:nvSpPr>
        <p:spPr>
          <a:xfrm>
            <a:off x="548640" y="15087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Une application de bureau pour analyser des entretiens et d’autres textes : lire, coder, annoter, regrouper, comparer, puis exporter.</a:t>
            </a:r>
            <a:endParaRPr lang="en-US" sz="1700" dirty="0"/>
          </a:p>
        </p:txBody>
      </p:sp>
      <p:sp>
        <p:nvSpPr>
          <p:cNvPr id="5" name="Pastille 9"/>
          <p:cNvSpPr/>
          <p:nvPr/>
        </p:nvSpPr>
        <p:spPr>
          <a:xfrm>
            <a:off x="548640" y="274320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1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267" y="2866827"/>
            <a:ext cx="228234" cy="228234"/>
          </a:xfrm>
          <a:prstGeom prst="rect">
            <a:avLst/>
          </a:prstGeom>
        </p:spPr>
      </p:pic>
      <p:sp>
        <p:nvSpPr>
          <p:cNvPr id="7" name="Texte 11"/>
          <p:cNvSpPr txBox="1"/>
          <p:nvPr/>
        </p:nvSpPr>
        <p:spPr>
          <a:xfrm>
            <a:off x="1207008" y="2743200"/>
            <a:ext cx="4187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Gratuite et libre</a:t>
            </a:r>
            <a:endParaRPr lang="en-US" sz="1600" dirty="0"/>
          </a:p>
        </p:txBody>
      </p:sp>
      <p:sp>
        <p:nvSpPr>
          <p:cNvPr id="8" name="Texte 12"/>
          <p:cNvSpPr txBox="1"/>
          <p:nvPr/>
        </p:nvSpPr>
        <p:spPr>
          <a:xfrm>
            <a:off x="1207008" y="3108960"/>
            <a:ext cx="4187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Aucune licence à acheter ; le code source est public.</a:t>
            </a:r>
            <a:endParaRPr lang="en-US" sz="1400" dirty="0"/>
          </a:p>
        </p:txBody>
      </p:sp>
      <p:sp>
        <p:nvSpPr>
          <p:cNvPr id="9" name="Pastille 13"/>
          <p:cNvSpPr/>
          <p:nvPr/>
        </p:nvSpPr>
        <p:spPr>
          <a:xfrm>
            <a:off x="548640" y="3840480"/>
            <a:ext cx="475488" cy="47548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cône 1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67" y="3964107"/>
            <a:ext cx="228234" cy="228234"/>
          </a:xfrm>
          <a:prstGeom prst="rect">
            <a:avLst/>
          </a:prstGeom>
        </p:spPr>
      </p:pic>
      <p:sp>
        <p:nvSpPr>
          <p:cNvPr id="11" name="Texte 15"/>
          <p:cNvSpPr txBox="1"/>
          <p:nvPr/>
        </p:nvSpPr>
        <p:spPr>
          <a:xfrm>
            <a:off x="1207008" y="3840480"/>
            <a:ext cx="4187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Entièrement locale</a:t>
            </a:r>
            <a:endParaRPr lang="en-US" sz="1600" dirty="0"/>
          </a:p>
        </p:txBody>
      </p:sp>
      <p:sp>
        <p:nvSpPr>
          <p:cNvPr id="12" name="Texte 16"/>
          <p:cNvSpPr txBox="1"/>
          <p:nvPr/>
        </p:nvSpPr>
        <p:spPr>
          <a:xfrm>
            <a:off x="1207008" y="4206240"/>
            <a:ext cx="4187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Pas de compte, pas de serveur : vos données restent sur votre ordinateur.</a:t>
            </a:r>
            <a:endParaRPr lang="en-US" sz="1400" dirty="0"/>
          </a:p>
        </p:txBody>
      </p:sp>
      <p:sp>
        <p:nvSpPr>
          <p:cNvPr id="13" name="Pastille 17"/>
          <p:cNvSpPr/>
          <p:nvPr/>
        </p:nvSpPr>
        <p:spPr>
          <a:xfrm>
            <a:off x="548640" y="4937760"/>
            <a:ext cx="475488" cy="47548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4" name="Icône 1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67" y="5061387"/>
            <a:ext cx="228234" cy="228234"/>
          </a:xfrm>
          <a:prstGeom prst="rect">
            <a:avLst/>
          </a:prstGeom>
        </p:spPr>
      </p:pic>
      <p:sp>
        <p:nvSpPr>
          <p:cNvPr id="15" name="Texte 19"/>
          <p:cNvSpPr txBox="1"/>
          <p:nvPr/>
        </p:nvSpPr>
        <p:spPr>
          <a:xfrm>
            <a:off x="1207008" y="4937760"/>
            <a:ext cx="4187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Windows, Mac et Linux</a:t>
            </a:r>
            <a:endParaRPr lang="en-US" sz="1600" dirty="0"/>
          </a:p>
        </p:txBody>
      </p:sp>
      <p:sp>
        <p:nvSpPr>
          <p:cNvPr id="16" name="Texte 20"/>
          <p:cNvSpPr txBox="1"/>
          <p:nvPr/>
        </p:nvSpPr>
        <p:spPr>
          <a:xfrm>
            <a:off x="1207008" y="5303520"/>
            <a:ext cx="4187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Mac à puce Apple (M1 à M4) uniquement pour le moment.</a:t>
            </a:r>
            <a:endParaRPr lang="en-US" sz="1400" dirty="0"/>
          </a:p>
        </p:txBody>
      </p:sp>
      <p:sp>
        <p:nvSpPr>
          <p:cNvPr id="17" name="Cadre 21"/>
          <p:cNvSpPr/>
          <p:nvPr/>
        </p:nvSpPr>
        <p:spPr>
          <a:xfrm>
            <a:off x="5806440" y="1508760"/>
            <a:ext cx="5833872" cy="3667005"/>
          </a:xfrm>
          <a:prstGeom prst="rect">
            <a:avLst/>
          </a:prstGeom>
          <a:solidFill>
            <a:schemeClr val="bg1"/>
          </a:solidFill>
          <a:ln w="9525">
            <a:solidFill>
              <a:srgbClr val="D9D3E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Capture 22" descr="L’écran de travail de Cadenza : un entretien codé et le livre de cod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554480"/>
            <a:ext cx="5742432" cy="3575565"/>
          </a:xfrm>
          <a:prstGeom prst="rect">
            <a:avLst/>
          </a:prstGeom>
        </p:spPr>
      </p:pic>
      <p:sp>
        <p:nvSpPr>
          <p:cNvPr id="19" name="Texte 23"/>
          <p:cNvSpPr txBox="1"/>
          <p:nvPr/>
        </p:nvSpPr>
        <p:spPr>
          <a:xfrm>
            <a:off x="5806440" y="5285493"/>
            <a:ext cx="5833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070"/>
                </a:solidFill>
              </a:rPr>
              <a:t>L’écran de travail : un entretien codé, le livre de codes à droite (projet d’exemple fourni).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Ce que contient ce guide</a:t>
            </a:r>
            <a:endParaRPr lang="en-US" sz="3400" dirty="0"/>
          </a:p>
        </p:txBody>
      </p:sp>
      <p:sp>
        <p:nvSpPr>
          <p:cNvPr id="4" name="Carte 24"/>
          <p:cNvSpPr/>
          <p:nvPr/>
        </p:nvSpPr>
        <p:spPr>
          <a:xfrm>
            <a:off x="548640" y="1554480"/>
            <a:ext cx="351525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e 25"/>
          <p:cNvSpPr txBox="1"/>
          <p:nvPr/>
        </p:nvSpPr>
        <p:spPr>
          <a:xfrm>
            <a:off x="822960" y="1737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exte 26"/>
          <p:cNvSpPr txBox="1"/>
          <p:nvPr/>
        </p:nvSpPr>
        <p:spPr>
          <a:xfrm>
            <a:off x="822960" y="25146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Installer Cadenza</a:t>
            </a:r>
            <a:endParaRPr lang="en-US" sz="1900" dirty="0"/>
          </a:p>
        </p:txBody>
      </p:sp>
      <p:sp>
        <p:nvSpPr>
          <p:cNvPr id="7" name="Texte 27"/>
          <p:cNvSpPr txBox="1"/>
          <p:nvPr/>
        </p:nvSpPr>
        <p:spPr>
          <a:xfrm>
            <a:off x="822960" y="292608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Télécharger, passer l’avertissement de sécurité, créer un projet.</a:t>
            </a:r>
            <a:endParaRPr lang="en-US" sz="1400" dirty="0"/>
          </a:p>
        </p:txBody>
      </p:sp>
      <p:sp>
        <p:nvSpPr>
          <p:cNvPr id="8" name="Carte 28"/>
          <p:cNvSpPr/>
          <p:nvPr/>
        </p:nvSpPr>
        <p:spPr>
          <a:xfrm>
            <a:off x="4338218" y="1554480"/>
            <a:ext cx="351525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e 29"/>
          <p:cNvSpPr txBox="1"/>
          <p:nvPr/>
        </p:nvSpPr>
        <p:spPr>
          <a:xfrm>
            <a:off x="4612538" y="1737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e 30"/>
          <p:cNvSpPr txBox="1"/>
          <p:nvPr/>
        </p:nvSpPr>
        <p:spPr>
          <a:xfrm>
            <a:off x="4612538" y="25146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Les bases</a:t>
            </a:r>
            <a:endParaRPr lang="en-US" sz="1900" dirty="0"/>
          </a:p>
        </p:txBody>
      </p:sp>
      <p:sp>
        <p:nvSpPr>
          <p:cNvPr id="11" name="Texte 31"/>
          <p:cNvSpPr txBox="1"/>
          <p:nvPr/>
        </p:nvSpPr>
        <p:spPr>
          <a:xfrm>
            <a:off x="4612538" y="292608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Les écrans, le vocabulaire, coder, annoter, regrouper, retrouver.</a:t>
            </a:r>
            <a:endParaRPr lang="en-US" sz="1400" dirty="0"/>
          </a:p>
        </p:txBody>
      </p:sp>
      <p:sp>
        <p:nvSpPr>
          <p:cNvPr id="12" name="Carte 32"/>
          <p:cNvSpPr/>
          <p:nvPr/>
        </p:nvSpPr>
        <p:spPr>
          <a:xfrm>
            <a:off x="8127797" y="1554480"/>
            <a:ext cx="351525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e 33"/>
          <p:cNvSpPr txBox="1"/>
          <p:nvPr/>
        </p:nvSpPr>
        <p:spPr>
          <a:xfrm>
            <a:off x="8402117" y="1737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e 34"/>
          <p:cNvSpPr txBox="1"/>
          <p:nvPr/>
        </p:nvSpPr>
        <p:spPr>
          <a:xfrm>
            <a:off x="8402117" y="25146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Analyse thématique</a:t>
            </a:r>
            <a:endParaRPr lang="en-US" sz="1900" dirty="0"/>
          </a:p>
        </p:txBody>
      </p:sp>
      <p:sp>
        <p:nvSpPr>
          <p:cNvPr id="15" name="Texte 35"/>
          <p:cNvSpPr txBox="1"/>
          <p:nvPr/>
        </p:nvSpPr>
        <p:spPr>
          <a:xfrm>
            <a:off x="8402117" y="292608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Les six phases, écran par écran.</a:t>
            </a:r>
            <a:endParaRPr lang="en-US" sz="1400" dirty="0"/>
          </a:p>
        </p:txBody>
      </p:sp>
      <p:sp>
        <p:nvSpPr>
          <p:cNvPr id="16" name="Carte 36"/>
          <p:cNvSpPr/>
          <p:nvPr/>
        </p:nvSpPr>
        <p:spPr>
          <a:xfrm>
            <a:off x="548640" y="3977640"/>
            <a:ext cx="351525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e 37"/>
          <p:cNvSpPr txBox="1"/>
          <p:nvPr/>
        </p:nvSpPr>
        <p:spPr>
          <a:xfrm>
            <a:off x="822960" y="4160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8" name="Texte 38"/>
          <p:cNvSpPr txBox="1"/>
          <p:nvPr/>
        </p:nvSpPr>
        <p:spPr>
          <a:xfrm>
            <a:off x="822960" y="49377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IPA</a:t>
            </a:r>
            <a:endParaRPr lang="en-US" sz="1900" dirty="0"/>
          </a:p>
        </p:txBody>
      </p:sp>
      <p:sp>
        <p:nvSpPr>
          <p:cNvPr id="19" name="Texte 39"/>
          <p:cNvSpPr txBox="1"/>
          <p:nvPr/>
        </p:nvSpPr>
        <p:spPr>
          <a:xfrm>
            <a:off x="822960" y="534924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L’analyse phénoménologique interprétative, cas par cas.</a:t>
            </a:r>
            <a:endParaRPr lang="en-US" sz="1400" dirty="0"/>
          </a:p>
        </p:txBody>
      </p:sp>
      <p:sp>
        <p:nvSpPr>
          <p:cNvPr id="20" name="Carte 40"/>
          <p:cNvSpPr/>
          <p:nvPr/>
        </p:nvSpPr>
        <p:spPr>
          <a:xfrm>
            <a:off x="4338218" y="3977640"/>
            <a:ext cx="351525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e 41"/>
          <p:cNvSpPr txBox="1"/>
          <p:nvPr/>
        </p:nvSpPr>
        <p:spPr>
          <a:xfrm>
            <a:off x="4612538" y="4160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22" name="Texte 42"/>
          <p:cNvSpPr txBox="1"/>
          <p:nvPr/>
        </p:nvSpPr>
        <p:spPr>
          <a:xfrm>
            <a:off x="4612538" y="49377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AQA</a:t>
            </a:r>
            <a:endParaRPr lang="en-US" sz="1900" dirty="0"/>
          </a:p>
        </p:txBody>
      </p:sp>
      <p:sp>
        <p:nvSpPr>
          <p:cNvPr id="23" name="Texte 43"/>
          <p:cNvSpPr txBox="1"/>
          <p:nvPr/>
        </p:nvSpPr>
        <p:spPr>
          <a:xfrm>
            <a:off x="4612538" y="534924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L’analyse par questionnement analytique.</a:t>
            </a:r>
            <a:endParaRPr lang="en-US" sz="1400" dirty="0"/>
          </a:p>
        </p:txBody>
      </p:sp>
      <p:sp>
        <p:nvSpPr>
          <p:cNvPr id="24" name="Carte 44"/>
          <p:cNvSpPr/>
          <p:nvPr/>
        </p:nvSpPr>
        <p:spPr>
          <a:xfrm>
            <a:off x="8127797" y="3977640"/>
            <a:ext cx="351525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e 45"/>
          <p:cNvSpPr txBox="1"/>
          <p:nvPr/>
        </p:nvSpPr>
        <p:spPr>
          <a:xfrm>
            <a:off x="8402117" y="4160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26" name="Texte 46"/>
          <p:cNvSpPr txBox="1"/>
          <p:nvPr/>
        </p:nvSpPr>
        <p:spPr>
          <a:xfrm>
            <a:off x="8402117" y="49377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Pour bien démarrer</a:t>
            </a:r>
            <a:endParaRPr lang="en-US" sz="1900" dirty="0"/>
          </a:p>
        </p:txBody>
      </p:sp>
      <p:sp>
        <p:nvSpPr>
          <p:cNvPr id="27" name="Texte 47"/>
          <p:cNvSpPr txBox="1"/>
          <p:nvPr/>
        </p:nvSpPr>
        <p:spPr>
          <a:xfrm>
            <a:off x="8402117" y="534924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Exporter, protéger son travail, raccourcis, pièges à éviter.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de partie 48"/>
          <p:cNvSpPr txBox="1"/>
          <p:nvPr/>
        </p:nvSpPr>
        <p:spPr>
          <a:xfrm>
            <a:off x="822960" y="182880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3291840" y="224028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Installer Cadenza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3291840" y="3611880"/>
            <a:ext cx="8138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Deux minutes, sans compte et sans rien configurer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Télécharger le bon fichier</a:t>
            </a:r>
            <a:endParaRPr lang="en-US" sz="3400" dirty="0"/>
          </a:p>
        </p:txBody>
      </p:sp>
      <p:sp>
        <p:nvSpPr>
          <p:cNvPr id="4" name="Pastille 49"/>
          <p:cNvSpPr/>
          <p:nvPr/>
        </p:nvSpPr>
        <p:spPr>
          <a:xfrm>
            <a:off x="548640" y="15544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uméro 50"/>
          <p:cNvSpPr txBox="1"/>
          <p:nvPr/>
        </p:nvSpPr>
        <p:spPr>
          <a:xfrm>
            <a:off x="548640" y="1554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e 51"/>
          <p:cNvSpPr txBox="1"/>
          <p:nvPr/>
        </p:nvSpPr>
        <p:spPr>
          <a:xfrm>
            <a:off x="1143000" y="15727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Ouvrez la page de téléchargement</a:t>
            </a:r>
            <a:endParaRPr lang="en-US" sz="1700" dirty="0"/>
          </a:p>
        </p:txBody>
      </p:sp>
      <p:sp>
        <p:nvSpPr>
          <p:cNvPr id="7" name="Texte 52"/>
          <p:cNvSpPr txBox="1"/>
          <p:nvPr/>
        </p:nvSpPr>
        <p:spPr>
          <a:xfrm>
            <a:off x="1143000" y="198424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github.com/seelebrn/cadenza/releases/latest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Aucun compte n’est nécessaire.</a:t>
            </a:r>
            <a:endParaRPr lang="en-US" sz="1400" dirty="0"/>
          </a:p>
        </p:txBody>
      </p:sp>
      <p:sp>
        <p:nvSpPr>
          <p:cNvPr id="8" name="Pastille 53"/>
          <p:cNvSpPr/>
          <p:nvPr/>
        </p:nvSpPr>
        <p:spPr>
          <a:xfrm>
            <a:off x="548640" y="26974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Numéro 54"/>
          <p:cNvSpPr txBox="1"/>
          <p:nvPr/>
        </p:nvSpPr>
        <p:spPr>
          <a:xfrm>
            <a:off x="548640" y="2697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e 55"/>
          <p:cNvSpPr txBox="1"/>
          <p:nvPr/>
        </p:nvSpPr>
        <p:spPr>
          <a:xfrm>
            <a:off x="1143000" y="27157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Descendez jusqu’à « Assets »</a:t>
            </a:r>
            <a:endParaRPr lang="en-US" sz="1700" dirty="0"/>
          </a:p>
        </p:txBody>
      </p:sp>
      <p:sp>
        <p:nvSpPr>
          <p:cNvPr id="11" name="Texte 56"/>
          <p:cNvSpPr txBox="1"/>
          <p:nvPr/>
        </p:nvSpPr>
        <p:spPr>
          <a:xfrm>
            <a:off x="1143000" y="312724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C’est la liste des fichiers, sous la liste des nouveautés. Cliquez sur le mot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Assets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si elle est repliée.</a:t>
            </a:r>
            <a:endParaRPr lang="en-US" sz="1400" dirty="0"/>
          </a:p>
        </p:txBody>
      </p:sp>
      <p:sp>
        <p:nvSpPr>
          <p:cNvPr id="12" name="Pastille 57"/>
          <p:cNvSpPr/>
          <p:nvPr/>
        </p:nvSpPr>
        <p:spPr>
          <a:xfrm>
            <a:off x="548640" y="38404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uméro 58"/>
          <p:cNvSpPr txBox="1"/>
          <p:nvPr/>
        </p:nvSpPr>
        <p:spPr>
          <a:xfrm>
            <a:off x="548640" y="3840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e 59"/>
          <p:cNvSpPr txBox="1"/>
          <p:nvPr/>
        </p:nvSpPr>
        <p:spPr>
          <a:xfrm>
            <a:off x="1143000" y="38587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Cliquez sur le fichier de votre ordinateur</a:t>
            </a:r>
            <a:endParaRPr lang="en-US" sz="1700" dirty="0"/>
          </a:p>
        </p:txBody>
      </p:sp>
      <p:sp>
        <p:nvSpPr>
          <p:cNvPr id="15" name="Texte 60"/>
          <p:cNvSpPr txBox="1"/>
          <p:nvPr/>
        </p:nvSpPr>
        <p:spPr>
          <a:xfrm>
            <a:off x="1143000" y="427024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seul vous concerne : voyez le schéma à droite.</a:t>
            </a:r>
            <a:endParaRPr lang="en-US" sz="1400" dirty="0"/>
          </a:p>
        </p:txBody>
      </p:sp>
      <p:sp>
        <p:nvSpPr>
          <p:cNvPr id="16" name="Pastille 61"/>
          <p:cNvSpPr/>
          <p:nvPr/>
        </p:nvSpPr>
        <p:spPr>
          <a:xfrm>
            <a:off x="548640" y="49834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Numéro 62"/>
          <p:cNvSpPr txBox="1"/>
          <p:nvPr/>
        </p:nvSpPr>
        <p:spPr>
          <a:xfrm>
            <a:off x="548640" y="4983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e 63"/>
          <p:cNvSpPr txBox="1"/>
          <p:nvPr/>
        </p:nvSpPr>
        <p:spPr>
          <a:xfrm>
            <a:off x="1143000" y="50017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Ouvrez-le depuis Téléchargements</a:t>
            </a:r>
            <a:endParaRPr lang="en-US" sz="1700" dirty="0"/>
          </a:p>
        </p:txBody>
      </p:sp>
      <p:sp>
        <p:nvSpPr>
          <p:cNvPr id="19" name="Texte 64"/>
          <p:cNvSpPr txBox="1"/>
          <p:nvPr/>
        </p:nvSpPr>
        <p:spPr>
          <a:xfrm>
            <a:off x="1143000" y="541324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navigateur l’y enregistre. Double-cliquez dessus.</a:t>
            </a:r>
            <a:endParaRPr lang="en-US" sz="1400" dirty="0"/>
          </a:p>
        </p:txBody>
      </p:sp>
      <p:sp>
        <p:nvSpPr>
          <p:cNvPr id="20" name="Schéma Assets 65"/>
          <p:cNvSpPr/>
          <p:nvPr/>
        </p:nvSpPr>
        <p:spPr>
          <a:xfrm>
            <a:off x="6126480" y="1508760"/>
            <a:ext cx="5513832" cy="4343400"/>
          </a:xfrm>
          <a:prstGeom prst="roundRect">
            <a:avLst>
              <a:gd name="adj" fmla="val 1684"/>
            </a:avLst>
          </a:prstGeom>
          <a:solidFill>
            <a:schemeClr val="bg1"/>
          </a:solidFill>
          <a:ln w="12700">
            <a:solidFill>
              <a:srgbClr val="D9D3E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4000"/>
              </a:srgbClr>
            </a:outerShdw>
          </a:effectLst>
        </p:spPr>
      </p:sp>
      <p:sp>
        <p:nvSpPr>
          <p:cNvPr id="21" name="Texte 66"/>
          <p:cNvSpPr txBox="1"/>
          <p:nvPr/>
        </p:nvSpPr>
        <p:spPr>
          <a:xfrm>
            <a:off x="640080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▾  Assets</a:t>
            </a:r>
            <a:endParaRPr lang="en-US" sz="1700" dirty="0"/>
          </a:p>
        </p:txBody>
      </p:sp>
      <p:sp>
        <p:nvSpPr>
          <p:cNvPr id="22" name="Texte 67"/>
          <p:cNvSpPr txBox="1"/>
          <p:nvPr/>
        </p:nvSpPr>
        <p:spPr>
          <a:xfrm>
            <a:off x="6446520" y="2167128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Cadenza-0.7.1-arm64-mac.zip</a:t>
            </a:r>
            <a:endParaRPr lang="en-US" sz="1300" dirty="0"/>
          </a:p>
        </p:txBody>
      </p:sp>
      <p:sp>
        <p:nvSpPr>
          <p:cNvPr id="23" name="Texte 68"/>
          <p:cNvSpPr txBox="1"/>
          <p:nvPr/>
        </p:nvSpPr>
        <p:spPr>
          <a:xfrm>
            <a:off x="9555480" y="216712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à ignorer</a:t>
            </a:r>
            <a:endParaRPr lang="en-US" sz="1200" dirty="0"/>
          </a:p>
        </p:txBody>
      </p:sp>
      <p:sp>
        <p:nvSpPr>
          <p:cNvPr id="24" name="Ligne 69"/>
          <p:cNvSpPr/>
          <p:nvPr/>
        </p:nvSpPr>
        <p:spPr>
          <a:xfrm>
            <a:off x="6291072" y="2679192"/>
            <a:ext cx="5184648" cy="438912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e 70"/>
          <p:cNvSpPr txBox="1"/>
          <p:nvPr/>
        </p:nvSpPr>
        <p:spPr>
          <a:xfrm>
            <a:off x="6446520" y="2679192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Cadenza-0.7.1-arm64.dmg</a:t>
            </a:r>
            <a:endParaRPr lang="en-US" sz="1300" dirty="0"/>
          </a:p>
        </p:txBody>
      </p:sp>
      <p:sp>
        <p:nvSpPr>
          <p:cNvPr id="26" name="Étiquette 71"/>
          <p:cNvSpPr/>
          <p:nvPr/>
        </p:nvSpPr>
        <p:spPr>
          <a:xfrm>
            <a:off x="9555480" y="2752344"/>
            <a:ext cx="1874520" cy="29260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e 72"/>
          <p:cNvSpPr txBox="1"/>
          <p:nvPr/>
        </p:nvSpPr>
        <p:spPr>
          <a:xfrm>
            <a:off x="9555480" y="275234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Mac (puce Apple)</a:t>
            </a:r>
            <a:endParaRPr lang="en-US" sz="1100" dirty="0"/>
          </a:p>
        </p:txBody>
      </p:sp>
      <p:sp>
        <p:nvSpPr>
          <p:cNvPr id="28" name="Ligne 73"/>
          <p:cNvSpPr/>
          <p:nvPr/>
        </p:nvSpPr>
        <p:spPr>
          <a:xfrm>
            <a:off x="6291072" y="3191256"/>
            <a:ext cx="5184648" cy="438912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e 74"/>
          <p:cNvSpPr txBox="1"/>
          <p:nvPr/>
        </p:nvSpPr>
        <p:spPr>
          <a:xfrm>
            <a:off x="6446520" y="3191256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Cadenza-0.7.1.AppImage</a:t>
            </a:r>
            <a:endParaRPr lang="en-US" sz="1300" dirty="0"/>
          </a:p>
        </p:txBody>
      </p:sp>
      <p:sp>
        <p:nvSpPr>
          <p:cNvPr id="30" name="Étiquette 75"/>
          <p:cNvSpPr/>
          <p:nvPr/>
        </p:nvSpPr>
        <p:spPr>
          <a:xfrm>
            <a:off x="9555480" y="3264408"/>
            <a:ext cx="1874520" cy="29260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Texte 76"/>
          <p:cNvSpPr txBox="1"/>
          <p:nvPr/>
        </p:nvSpPr>
        <p:spPr>
          <a:xfrm>
            <a:off x="9555480" y="326440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Linux</a:t>
            </a:r>
            <a:endParaRPr lang="en-US" sz="1100" dirty="0"/>
          </a:p>
        </p:txBody>
      </p:sp>
      <p:sp>
        <p:nvSpPr>
          <p:cNvPr id="32" name="Ligne 77"/>
          <p:cNvSpPr/>
          <p:nvPr/>
        </p:nvSpPr>
        <p:spPr>
          <a:xfrm>
            <a:off x="6291072" y="3703320"/>
            <a:ext cx="5184648" cy="438912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e 78"/>
          <p:cNvSpPr txBox="1"/>
          <p:nvPr/>
        </p:nvSpPr>
        <p:spPr>
          <a:xfrm>
            <a:off x="6446520" y="3703320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Cadenza-0.7.1.exe</a:t>
            </a:r>
            <a:endParaRPr lang="en-US" sz="1300" dirty="0"/>
          </a:p>
        </p:txBody>
      </p:sp>
      <p:sp>
        <p:nvSpPr>
          <p:cNvPr id="34" name="Étiquette 79"/>
          <p:cNvSpPr/>
          <p:nvPr/>
        </p:nvSpPr>
        <p:spPr>
          <a:xfrm>
            <a:off x="9555480" y="3776472"/>
            <a:ext cx="1874520" cy="292608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5" name="Texte 80"/>
          <p:cNvSpPr txBox="1"/>
          <p:nvPr/>
        </p:nvSpPr>
        <p:spPr>
          <a:xfrm>
            <a:off x="9555480" y="37764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Windows, version portable</a:t>
            </a:r>
            <a:endParaRPr lang="en-US" sz="1100" dirty="0"/>
          </a:p>
        </p:txBody>
      </p:sp>
      <p:sp>
        <p:nvSpPr>
          <p:cNvPr id="36" name="Ligne 81"/>
          <p:cNvSpPr/>
          <p:nvPr/>
        </p:nvSpPr>
        <p:spPr>
          <a:xfrm>
            <a:off x="6291072" y="4215384"/>
            <a:ext cx="5184648" cy="438912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Texte 82"/>
          <p:cNvSpPr txBox="1"/>
          <p:nvPr/>
        </p:nvSpPr>
        <p:spPr>
          <a:xfrm>
            <a:off x="6446520" y="4215384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Cadenza-Setup-0.7.1.exe</a:t>
            </a:r>
            <a:endParaRPr lang="en-US" sz="1300" dirty="0"/>
          </a:p>
        </p:txBody>
      </p:sp>
      <p:sp>
        <p:nvSpPr>
          <p:cNvPr id="38" name="Étiquette 83"/>
          <p:cNvSpPr/>
          <p:nvPr/>
        </p:nvSpPr>
        <p:spPr>
          <a:xfrm>
            <a:off x="9555480" y="4288536"/>
            <a:ext cx="187452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Texte 84"/>
          <p:cNvSpPr txBox="1"/>
          <p:nvPr/>
        </p:nvSpPr>
        <p:spPr>
          <a:xfrm>
            <a:off x="9555480" y="428853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Windows</a:t>
            </a:r>
            <a:endParaRPr lang="en-US" sz="1100" dirty="0"/>
          </a:p>
        </p:txBody>
      </p:sp>
      <p:sp>
        <p:nvSpPr>
          <p:cNvPr id="40" name="Texte 85"/>
          <p:cNvSpPr txBox="1"/>
          <p:nvPr/>
        </p:nvSpPr>
        <p:spPr>
          <a:xfrm>
            <a:off x="6446520" y="4727448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….blockmap   ….yml</a:t>
            </a:r>
            <a:endParaRPr lang="en-US" sz="1300" dirty="0"/>
          </a:p>
        </p:txBody>
      </p:sp>
      <p:sp>
        <p:nvSpPr>
          <p:cNvPr id="41" name="Texte 86"/>
          <p:cNvSpPr txBox="1"/>
          <p:nvPr/>
        </p:nvSpPr>
        <p:spPr>
          <a:xfrm>
            <a:off x="9555480" y="472744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à ignorer</a:t>
            </a:r>
            <a:endParaRPr lang="en-US" sz="1200" dirty="0"/>
          </a:p>
        </p:txBody>
      </p:sp>
      <p:sp>
        <p:nvSpPr>
          <p:cNvPr id="42" name="Texte 87"/>
          <p:cNvSpPr txBox="1"/>
          <p:nvPr/>
        </p:nvSpPr>
        <p:spPr>
          <a:xfrm>
            <a:off x="6446520" y="5239512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code (zip, tar.gz)</a:t>
            </a:r>
            <a:endParaRPr lang="en-US" sz="1300" dirty="0"/>
          </a:p>
        </p:txBody>
      </p:sp>
      <p:sp>
        <p:nvSpPr>
          <p:cNvPr id="43" name="Texte 88"/>
          <p:cNvSpPr txBox="1"/>
          <p:nvPr/>
        </p:nvSpPr>
        <p:spPr>
          <a:xfrm>
            <a:off x="9555480" y="523951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à ignorer</a:t>
            </a:r>
            <a:endParaRPr lang="en-US" sz="1200" dirty="0"/>
          </a:p>
        </p:txBody>
      </p:sp>
      <p:sp>
        <p:nvSpPr>
          <p:cNvPr id="44" name="Texte 89"/>
          <p:cNvSpPr txBox="1"/>
          <p:nvPr/>
        </p:nvSpPr>
        <p:spPr>
          <a:xfrm>
            <a:off x="6126480" y="5961888"/>
            <a:ext cx="5513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070"/>
                </a:solidFill>
              </a:rPr>
              <a:t>Schéma de la rubrique. Le numéro (0.7.1) change à chaque version.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Au premier lancement, un avertissement : c’est normal</a:t>
            </a:r>
            <a:endParaRPr lang="en-US" sz="3400" dirty="0"/>
          </a:p>
        </p:txBody>
      </p:sp>
      <p:sp>
        <p:nvSpPr>
          <p:cNvPr id="4" name="Carte 90"/>
          <p:cNvSpPr/>
          <p:nvPr/>
        </p:nvSpPr>
        <p:spPr>
          <a:xfrm>
            <a:off x="548640" y="1463040"/>
            <a:ext cx="5364328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Étiquette 91"/>
          <p:cNvSpPr/>
          <p:nvPr/>
        </p:nvSpPr>
        <p:spPr>
          <a:xfrm>
            <a:off x="777240" y="1645920"/>
            <a:ext cx="123444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e 92"/>
          <p:cNvSpPr txBox="1"/>
          <p:nvPr/>
        </p:nvSpPr>
        <p:spPr>
          <a:xfrm>
            <a:off x="777240" y="164592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Windows</a:t>
            </a:r>
            <a:endParaRPr lang="en-US" sz="1400" dirty="0"/>
          </a:p>
        </p:txBody>
      </p:sp>
      <p:sp>
        <p:nvSpPr>
          <p:cNvPr id="7" name="Fenêtre Windows (schéma) 93"/>
          <p:cNvSpPr/>
          <p:nvPr/>
        </p:nvSpPr>
        <p:spPr>
          <a:xfrm>
            <a:off x="777240" y="2148840"/>
            <a:ext cx="2468880" cy="2514600"/>
          </a:xfrm>
          <a:prstGeom prst="rect">
            <a:avLst/>
          </a:prstGeom>
          <a:solidFill>
            <a:srgbClr val="0A5CA8"/>
          </a:solidFill>
          <a:ln w="12700">
            <a:solidFill>
              <a:srgbClr val="0A5CA8"/>
            </a:solidFill>
            <a:prstDash val="solid"/>
          </a:ln>
        </p:spPr>
      </p:sp>
      <p:sp>
        <p:nvSpPr>
          <p:cNvPr id="8" name="Texte 94"/>
          <p:cNvSpPr txBox="1"/>
          <p:nvPr/>
        </p:nvSpPr>
        <p:spPr>
          <a:xfrm>
            <a:off x="914400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Windows a protégé votre ordinateur</a:t>
            </a:r>
            <a:endParaRPr lang="en-US" sz="1400" dirty="0"/>
          </a:p>
        </p:txBody>
      </p:sp>
      <p:sp>
        <p:nvSpPr>
          <p:cNvPr id="9" name="Texte 95"/>
          <p:cNvSpPr txBox="1"/>
          <p:nvPr/>
        </p:nvSpPr>
        <p:spPr>
          <a:xfrm>
            <a:off x="914400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u="sng" dirty="0">
                <a:solidFill>
                  <a:srgbClr val="FFFFFF"/>
                </a:solidFill>
              </a:rPr>
              <a:t>Informations complémentaires</a:t>
            </a:r>
            <a:endParaRPr lang="en-US" sz="1200" dirty="0"/>
          </a:p>
        </p:txBody>
      </p:sp>
      <p:sp>
        <p:nvSpPr>
          <p:cNvPr id="10" name="Pastille 96"/>
          <p:cNvSpPr/>
          <p:nvPr/>
        </p:nvSpPr>
        <p:spPr>
          <a:xfrm>
            <a:off x="2834640" y="29718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Numéro 97"/>
          <p:cNvSpPr txBox="1"/>
          <p:nvPr/>
        </p:nvSpPr>
        <p:spPr>
          <a:xfrm>
            <a:off x="2834640" y="2971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Bouton 98"/>
          <p:cNvSpPr/>
          <p:nvPr/>
        </p:nvSpPr>
        <p:spPr>
          <a:xfrm>
            <a:off x="914400" y="4069080"/>
            <a:ext cx="16002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e 99"/>
          <p:cNvSpPr txBox="1"/>
          <p:nvPr/>
        </p:nvSpPr>
        <p:spPr>
          <a:xfrm>
            <a:off x="914400" y="40690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5CA8"/>
                </a:solidFill>
              </a:rPr>
              <a:t>Exécuter quand même</a:t>
            </a:r>
            <a:endParaRPr lang="en-US" sz="1200" dirty="0"/>
          </a:p>
        </p:txBody>
      </p:sp>
      <p:sp>
        <p:nvSpPr>
          <p:cNvPr id="14" name="Pastille 100"/>
          <p:cNvSpPr/>
          <p:nvPr/>
        </p:nvSpPr>
        <p:spPr>
          <a:xfrm>
            <a:off x="2606040" y="4096512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Numéro 101"/>
          <p:cNvSpPr txBox="1"/>
          <p:nvPr/>
        </p:nvSpPr>
        <p:spPr>
          <a:xfrm>
            <a:off x="2606040" y="4096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Pastille 102"/>
          <p:cNvSpPr/>
          <p:nvPr/>
        </p:nvSpPr>
        <p:spPr>
          <a:xfrm>
            <a:off x="3429000" y="214884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Numéro 103"/>
          <p:cNvSpPr txBox="1"/>
          <p:nvPr/>
        </p:nvSpPr>
        <p:spPr>
          <a:xfrm>
            <a:off x="342900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8" name="Texte 104"/>
          <p:cNvSpPr txBox="1"/>
          <p:nvPr/>
        </p:nvSpPr>
        <p:spPr>
          <a:xfrm>
            <a:off x="4023360" y="2167128"/>
            <a:ext cx="1752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Lien dans le texte</a:t>
            </a:r>
            <a:endParaRPr lang="en-US" sz="1500" dirty="0"/>
          </a:p>
        </p:txBody>
      </p:sp>
      <p:sp>
        <p:nvSpPr>
          <p:cNvPr id="19" name="Texte 105"/>
          <p:cNvSpPr txBox="1"/>
          <p:nvPr/>
        </p:nvSpPr>
        <p:spPr>
          <a:xfrm>
            <a:off x="4023360" y="2578608"/>
            <a:ext cx="1752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Cliquez sur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Informations complémentaires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20" name="Pastille 106"/>
          <p:cNvSpPr/>
          <p:nvPr/>
        </p:nvSpPr>
        <p:spPr>
          <a:xfrm>
            <a:off x="3429000" y="342900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Numéro 107"/>
          <p:cNvSpPr txBox="1"/>
          <p:nvPr/>
        </p:nvSpPr>
        <p:spPr>
          <a:xfrm>
            <a:off x="3429000" y="3429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2" name="Texte 108"/>
          <p:cNvSpPr txBox="1"/>
          <p:nvPr/>
        </p:nvSpPr>
        <p:spPr>
          <a:xfrm>
            <a:off x="4023360" y="3447288"/>
            <a:ext cx="1752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Nouveau bouton</a:t>
            </a:r>
            <a:endParaRPr lang="en-US" sz="1500" dirty="0"/>
          </a:p>
        </p:txBody>
      </p:sp>
      <p:sp>
        <p:nvSpPr>
          <p:cNvPr id="23" name="Texte 109"/>
          <p:cNvSpPr txBox="1"/>
          <p:nvPr/>
        </p:nvSpPr>
        <p:spPr>
          <a:xfrm>
            <a:off x="4023360" y="3858768"/>
            <a:ext cx="17524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Cliquez sur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Exécuter quand même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24" name="Carte 110"/>
          <p:cNvSpPr/>
          <p:nvPr/>
        </p:nvSpPr>
        <p:spPr>
          <a:xfrm>
            <a:off x="6278728" y="1463040"/>
            <a:ext cx="5364328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Étiquette 111"/>
          <p:cNvSpPr/>
          <p:nvPr/>
        </p:nvSpPr>
        <p:spPr>
          <a:xfrm>
            <a:off x="6507328" y="1645920"/>
            <a:ext cx="1234440" cy="32918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e 112"/>
          <p:cNvSpPr txBox="1"/>
          <p:nvPr/>
        </p:nvSpPr>
        <p:spPr>
          <a:xfrm>
            <a:off x="6507328" y="164592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Mac</a:t>
            </a:r>
            <a:endParaRPr lang="en-US" sz="1400" dirty="0"/>
          </a:p>
        </p:txBody>
      </p:sp>
      <p:sp>
        <p:nvSpPr>
          <p:cNvPr id="27" name="Fenêtre macOS (schéma) 113"/>
          <p:cNvSpPr/>
          <p:nvPr/>
        </p:nvSpPr>
        <p:spPr>
          <a:xfrm>
            <a:off x="6507328" y="2148840"/>
            <a:ext cx="2468880" cy="25146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9C9D1"/>
            </a:solidFill>
            <a:prstDash val="solid"/>
          </a:ln>
        </p:spPr>
      </p:sp>
      <p:sp>
        <p:nvSpPr>
          <p:cNvPr id="28" name="Texte 114"/>
          <p:cNvSpPr txBox="1"/>
          <p:nvPr/>
        </p:nvSpPr>
        <p:spPr>
          <a:xfrm>
            <a:off x="6644488" y="22860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430"/>
                </a:solidFill>
              </a:rPr>
              <a:t>Apple n’a pas pu vérifier que « Cadenza » ne contenait pas de logiciel malveillant</a:t>
            </a:r>
            <a:endParaRPr lang="en-US" sz="1200" dirty="0"/>
          </a:p>
        </p:txBody>
      </p:sp>
      <p:sp>
        <p:nvSpPr>
          <p:cNvPr id="29" name="Bouton 115"/>
          <p:cNvSpPr/>
          <p:nvPr/>
        </p:nvSpPr>
        <p:spPr>
          <a:xfrm>
            <a:off x="6735928" y="3566160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E4E4EA"/>
          </a:solidFill>
          <a:ln w="12700">
            <a:solidFill>
              <a:srgbClr val="E4E4EA"/>
            </a:solidFill>
            <a:prstDash val="solid"/>
          </a:ln>
        </p:spPr>
      </p:sp>
      <p:sp>
        <p:nvSpPr>
          <p:cNvPr id="30" name="Texte 116"/>
          <p:cNvSpPr txBox="1"/>
          <p:nvPr/>
        </p:nvSpPr>
        <p:spPr>
          <a:xfrm>
            <a:off x="6735928" y="35661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76"/>
                </a:solidFill>
              </a:rPr>
              <a:t>Placer dans la corbeille</a:t>
            </a:r>
            <a:endParaRPr lang="en-US" sz="1100" dirty="0"/>
          </a:p>
        </p:txBody>
      </p:sp>
      <p:sp>
        <p:nvSpPr>
          <p:cNvPr id="31" name="Bouton 117"/>
          <p:cNvSpPr/>
          <p:nvPr/>
        </p:nvSpPr>
        <p:spPr>
          <a:xfrm>
            <a:off x="6735928" y="4023360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2F6FE4"/>
          </a:solidFill>
          <a:ln w="12700">
            <a:solidFill>
              <a:srgbClr val="2F6FE4"/>
            </a:solidFill>
            <a:prstDash val="solid"/>
          </a:ln>
        </p:spPr>
      </p:sp>
      <p:sp>
        <p:nvSpPr>
          <p:cNvPr id="32" name="Texte 118"/>
          <p:cNvSpPr txBox="1"/>
          <p:nvPr/>
        </p:nvSpPr>
        <p:spPr>
          <a:xfrm>
            <a:off x="6735928" y="40233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Terminé</a:t>
            </a:r>
            <a:endParaRPr lang="en-US" sz="1200" dirty="0"/>
          </a:p>
        </p:txBody>
      </p:sp>
      <p:sp>
        <p:nvSpPr>
          <p:cNvPr id="33" name="Pastille 119"/>
          <p:cNvSpPr/>
          <p:nvPr/>
        </p:nvSpPr>
        <p:spPr>
          <a:xfrm>
            <a:off x="8610448" y="3867912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Numéro 120"/>
          <p:cNvSpPr txBox="1"/>
          <p:nvPr/>
        </p:nvSpPr>
        <p:spPr>
          <a:xfrm>
            <a:off x="8610448" y="3867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35" name="Pastille 121"/>
          <p:cNvSpPr/>
          <p:nvPr/>
        </p:nvSpPr>
        <p:spPr>
          <a:xfrm>
            <a:off x="9159088" y="173736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6" name="Numéro 122"/>
          <p:cNvSpPr txBox="1"/>
          <p:nvPr/>
        </p:nvSpPr>
        <p:spPr>
          <a:xfrm>
            <a:off x="9159088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37" name="Texte 123"/>
          <p:cNvSpPr txBox="1"/>
          <p:nvPr/>
        </p:nvSpPr>
        <p:spPr>
          <a:xfrm>
            <a:off x="9753448" y="1755648"/>
            <a:ext cx="1752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Terminé</a:t>
            </a:r>
            <a:endParaRPr lang="en-US" sz="1500" dirty="0"/>
          </a:p>
        </p:txBody>
      </p:sp>
      <p:sp>
        <p:nvSpPr>
          <p:cNvPr id="38" name="Texte 124"/>
          <p:cNvSpPr txBox="1"/>
          <p:nvPr/>
        </p:nvSpPr>
        <p:spPr>
          <a:xfrm>
            <a:off x="9753448" y="2167128"/>
            <a:ext cx="17524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Et non « Placer dans la corbeille ».</a:t>
            </a:r>
            <a:endParaRPr lang="en-US" sz="1400" dirty="0"/>
          </a:p>
        </p:txBody>
      </p:sp>
      <p:sp>
        <p:nvSpPr>
          <p:cNvPr id="39" name="Pastille 125"/>
          <p:cNvSpPr/>
          <p:nvPr/>
        </p:nvSpPr>
        <p:spPr>
          <a:xfrm>
            <a:off x="9159088" y="277977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0" name="Numéro 126"/>
          <p:cNvSpPr txBox="1"/>
          <p:nvPr/>
        </p:nvSpPr>
        <p:spPr>
          <a:xfrm>
            <a:off x="9159088" y="2779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41" name="Texte 127"/>
          <p:cNvSpPr txBox="1"/>
          <p:nvPr/>
        </p:nvSpPr>
        <p:spPr>
          <a:xfrm>
            <a:off x="9753448" y="2798064"/>
            <a:ext cx="1752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Réglages Système</a:t>
            </a:r>
            <a:endParaRPr lang="en-US" sz="1500" dirty="0"/>
          </a:p>
        </p:txBody>
      </p:sp>
      <p:sp>
        <p:nvSpPr>
          <p:cNvPr id="42" name="Texte 128"/>
          <p:cNvSpPr txBox="1"/>
          <p:nvPr/>
        </p:nvSpPr>
        <p:spPr>
          <a:xfrm>
            <a:off x="9753448" y="3209544"/>
            <a:ext cx="17524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Confidentialité et sécurité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en bas.</a:t>
            </a:r>
            <a:endParaRPr lang="en-US" sz="1400" dirty="0"/>
          </a:p>
        </p:txBody>
      </p:sp>
      <p:sp>
        <p:nvSpPr>
          <p:cNvPr id="43" name="Pastille 129"/>
          <p:cNvSpPr/>
          <p:nvPr/>
        </p:nvSpPr>
        <p:spPr>
          <a:xfrm>
            <a:off x="9159088" y="3822192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4" name="Numéro 130"/>
          <p:cNvSpPr txBox="1"/>
          <p:nvPr/>
        </p:nvSpPr>
        <p:spPr>
          <a:xfrm>
            <a:off x="9159088" y="3822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45" name="Texte 131"/>
          <p:cNvSpPr txBox="1"/>
          <p:nvPr/>
        </p:nvSpPr>
        <p:spPr>
          <a:xfrm>
            <a:off x="9753448" y="3840480"/>
            <a:ext cx="1752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Ouvrir quand même</a:t>
            </a:r>
            <a:endParaRPr lang="en-US" sz="1500" dirty="0"/>
          </a:p>
        </p:txBody>
      </p:sp>
      <p:sp>
        <p:nvSpPr>
          <p:cNvPr id="46" name="Texte 132"/>
          <p:cNvSpPr txBox="1"/>
          <p:nvPr/>
        </p:nvSpPr>
        <p:spPr>
          <a:xfrm>
            <a:off x="9753448" y="4251960"/>
            <a:ext cx="175244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À la ligne Cadenza ; confirmez.</a:t>
            </a:r>
            <a:endParaRPr lang="en-US" sz="1400" dirty="0"/>
          </a:p>
        </p:txBody>
      </p:sp>
      <p:sp>
        <p:nvSpPr>
          <p:cNvPr id="47" name="Carte 133"/>
          <p:cNvSpPr/>
          <p:nvPr/>
        </p:nvSpPr>
        <p:spPr>
          <a:xfrm>
            <a:off x="548640" y="5074920"/>
            <a:ext cx="11094415" cy="1115568"/>
          </a:xfrm>
          <a:prstGeom prst="roundRect">
            <a:avLst>
              <a:gd name="adj" fmla="val 65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8" name="Pastille 134"/>
          <p:cNvSpPr/>
          <p:nvPr/>
        </p:nvSpPr>
        <p:spPr>
          <a:xfrm>
            <a:off x="777240" y="5385816"/>
            <a:ext cx="493776" cy="493776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9" name="Icône 13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622" y="5514198"/>
            <a:ext cx="237012" cy="237012"/>
          </a:xfrm>
          <a:prstGeom prst="rect">
            <a:avLst/>
          </a:prstGeom>
        </p:spPr>
      </p:pic>
      <p:sp>
        <p:nvSpPr>
          <p:cNvPr id="50" name="Texte 136"/>
          <p:cNvSpPr txBox="1"/>
          <p:nvPr/>
        </p:nvSpPr>
        <p:spPr>
          <a:xfrm>
            <a:off x="1463040" y="5074920"/>
            <a:ext cx="9951415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Pourquoi ?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Windows et macOS avertissent pour toute application dont l’auteur n’a pas payé de certificat de signature. Cela ne veut pas dire qu’un problème a été détecté. L’avertissement n’apparaît qu’une fois ; d’autres outils libres, comme QualCoder, affichent le même. Sous Linux, en général, rien.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Installer, mettre à jour, désinstaller</a:t>
            </a:r>
            <a:endParaRPr lang="en-US" sz="3400" dirty="0"/>
          </a:p>
        </p:txBody>
      </p:sp>
      <p:graphicFrame>
        <p:nvGraphicFramePr>
          <p:cNvPr id="8" name="Tableau installation 1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00400"/>
                <a:gridCol w="3108960"/>
                <a:gridCol w="30449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/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Windows</a:t>
                      </a:r>
                      <a:endParaRPr lang="en-US" sz="1500" dirty="0"/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Mac</a:t>
                      </a:r>
                      <a:endParaRPr lang="en-US" sz="1500" dirty="0"/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Linux</a:t>
                      </a:r>
                      <a:endParaRPr lang="en-US" sz="1500" dirty="0"/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Installer</a:t>
                      </a:r>
                      <a:endParaRPr lang="en-US" sz="1500" dirty="0"/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Double-clic sur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Cadenza-Setup-….exe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, puis laissez faire. Cadenza apparaît dans le menu Démarrer.</a:t>
                      </a:r>
                      <a:endParaRPr lang="en-US" sz="1400" dirty="0"/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Double-clic sur le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.dmg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, puis glissez Cadenza dans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Applications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400" dirty="0"/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Clic droit → Propriétés → autorisez l’exécution, puis double-clic.</a:t>
                      </a:r>
                      <a:endParaRPr lang="en-US" sz="1400" dirty="0"/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Mettre à jour</a:t>
                      </a:r>
                      <a:endParaRPr lang="en-US" sz="1500" dirty="0"/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Téléchargez la nouvelle version sur la même page et installez-la par-dessus l’ancienne. Vos projets ne sont pas touchés.</a:t>
                      </a:r>
                      <a:endParaRPr lang="en-US" sz="1400" dirty="0"/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Désinstaller</a:t>
                      </a:r>
                      <a:endParaRPr lang="en-US" sz="1500" dirty="0"/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Paramètres → Applications → Cadenza →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Désinstaller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400" dirty="0"/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Glissez Cadenza du dossier Applications vers la Corbeille.</a:t>
                      </a:r>
                      <a:endParaRPr lang="en-US" sz="1400" dirty="0"/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Supprimez le fichier AppImage.</a:t>
                      </a:r>
                      <a:endParaRPr lang="en-US" sz="1400" dirty="0"/>
                    </a:p>
                  </a:txBody>
                  <a:tcPr marL="128016" marR="128016" marT="54864" marB="54864" anchor="ctr">
                    <a:lnL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arte 138"/>
          <p:cNvSpPr/>
          <p:nvPr/>
        </p:nvSpPr>
        <p:spPr>
          <a:xfrm>
            <a:off x="548640" y="4709160"/>
            <a:ext cx="5410048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 139"/>
          <p:cNvSpPr/>
          <p:nvPr/>
        </p:nvSpPr>
        <p:spPr>
          <a:xfrm>
            <a:off x="731520" y="5056632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ône 14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127" y="5161239"/>
            <a:ext cx="193121" cy="193121"/>
          </a:xfrm>
          <a:prstGeom prst="rect">
            <a:avLst/>
          </a:prstGeom>
        </p:spPr>
      </p:pic>
      <p:sp>
        <p:nvSpPr>
          <p:cNvPr id="8" name="Texte 141"/>
          <p:cNvSpPr txBox="1"/>
          <p:nvPr/>
        </p:nvSpPr>
        <p:spPr>
          <a:xfrm>
            <a:off x="1298448" y="4709160"/>
            <a:ext cx="449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Mac à processeur Intel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: pas encore de version. Pour vérifier : menu Pomme → À propos de ce Mac.</a:t>
            </a:r>
            <a:endParaRPr lang="en-US" sz="1400" dirty="0"/>
          </a:p>
        </p:txBody>
      </p:sp>
      <p:sp>
        <p:nvSpPr>
          <p:cNvPr id="9" name="Carte 142"/>
          <p:cNvSpPr/>
          <p:nvPr/>
        </p:nvSpPr>
        <p:spPr>
          <a:xfrm>
            <a:off x="6233008" y="4709160"/>
            <a:ext cx="5410048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 143"/>
          <p:cNvSpPr/>
          <p:nvPr/>
        </p:nvSpPr>
        <p:spPr>
          <a:xfrm>
            <a:off x="6415888" y="5056632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14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495" y="5161239"/>
            <a:ext cx="193121" cy="193121"/>
          </a:xfrm>
          <a:prstGeom prst="rect">
            <a:avLst/>
          </a:prstGeom>
        </p:spPr>
      </p:pic>
      <p:sp>
        <p:nvSpPr>
          <p:cNvPr id="12" name="Texte 145"/>
          <p:cNvSpPr txBox="1"/>
          <p:nvPr/>
        </p:nvSpPr>
        <p:spPr>
          <a:xfrm>
            <a:off x="6982816" y="4709160"/>
            <a:ext cx="449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Windows sans droit d’installer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: prenez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Cadenza-0.7.1.exe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(sans « Setup »), la version portable. Elle tient sur une clé USB.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Votre premier projet</a:t>
            </a:r>
            <a:endParaRPr lang="en-US" sz="3400" dirty="0"/>
          </a:p>
        </p:txBody>
      </p:sp>
      <p:sp>
        <p:nvSpPr>
          <p:cNvPr id="4" name="Cadre 146"/>
          <p:cNvSpPr/>
          <p:nvPr/>
        </p:nvSpPr>
        <p:spPr>
          <a:xfrm>
            <a:off x="548640" y="1508760"/>
            <a:ext cx="4846320" cy="4139565"/>
          </a:xfrm>
          <a:prstGeom prst="rect">
            <a:avLst/>
          </a:prstGeom>
          <a:solidFill>
            <a:schemeClr val="bg1"/>
          </a:solidFill>
          <a:ln w="9525">
            <a:solidFill>
              <a:srgbClr val="D9D3E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Capture 147" descr="L’écran d’accueil de Cadenz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4480"/>
            <a:ext cx="4754880" cy="4048125"/>
          </a:xfrm>
          <a:prstGeom prst="rect">
            <a:avLst/>
          </a:prstGeom>
        </p:spPr>
      </p:pic>
      <p:sp>
        <p:nvSpPr>
          <p:cNvPr id="6" name="Texte 148"/>
          <p:cNvSpPr txBox="1"/>
          <p:nvPr/>
        </p:nvSpPr>
        <p:spPr>
          <a:xfrm>
            <a:off x="548640" y="5758053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070"/>
                </a:solidFill>
              </a:rPr>
              <a:t>L’écran d’accueil.</a:t>
            </a:r>
            <a:endParaRPr lang="en-US" sz="1200" dirty="0"/>
          </a:p>
        </p:txBody>
      </p:sp>
      <p:sp>
        <p:nvSpPr>
          <p:cNvPr id="7" name="Pastille 149"/>
          <p:cNvSpPr/>
          <p:nvPr/>
        </p:nvSpPr>
        <p:spPr>
          <a:xfrm>
            <a:off x="5852160" y="15087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Numéro 150"/>
          <p:cNvSpPr txBox="1"/>
          <p:nvPr/>
        </p:nvSpPr>
        <p:spPr>
          <a:xfrm>
            <a:off x="5852160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e 151"/>
          <p:cNvSpPr txBox="1"/>
          <p:nvPr/>
        </p:nvSpPr>
        <p:spPr>
          <a:xfrm>
            <a:off x="6446520" y="1527048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Explorez l’exemple</a:t>
            </a:r>
            <a:endParaRPr lang="en-US" sz="1700" dirty="0"/>
          </a:p>
        </p:txBody>
      </p:sp>
      <p:sp>
        <p:nvSpPr>
          <p:cNvPr id="10" name="Texte 152"/>
          <p:cNvSpPr txBox="1"/>
          <p:nvPr/>
        </p:nvSpPr>
        <p:spPr>
          <a:xfrm>
            <a:off x="6446520" y="1938528"/>
            <a:ext cx="51937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Explore an example project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ouvre une petite étude fictive déjà codée, que vous pouvez modifier sans risque.</a:t>
            </a:r>
            <a:endParaRPr lang="en-US" sz="1400" dirty="0"/>
          </a:p>
        </p:txBody>
      </p:sp>
      <p:sp>
        <p:nvSpPr>
          <p:cNvPr id="11" name="Pastille 153"/>
          <p:cNvSpPr/>
          <p:nvPr/>
        </p:nvSpPr>
        <p:spPr>
          <a:xfrm>
            <a:off x="5852160" y="267919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Numéro 154"/>
          <p:cNvSpPr txBox="1"/>
          <p:nvPr/>
        </p:nvSpPr>
        <p:spPr>
          <a:xfrm>
            <a:off x="5852160" y="2679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e 155"/>
          <p:cNvSpPr txBox="1"/>
          <p:nvPr/>
        </p:nvSpPr>
        <p:spPr>
          <a:xfrm>
            <a:off x="6446520" y="2697480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Créez votre projet</a:t>
            </a:r>
            <a:endParaRPr lang="en-US" sz="1700" dirty="0"/>
          </a:p>
        </p:txBody>
      </p:sp>
      <p:sp>
        <p:nvSpPr>
          <p:cNvPr id="14" name="Texte 156"/>
          <p:cNvSpPr txBox="1"/>
          <p:nvPr/>
        </p:nvSpPr>
        <p:spPr>
          <a:xfrm>
            <a:off x="6446520" y="3108960"/>
            <a:ext cx="51937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Tapez un nom, puis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New project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15" name="Pastille 157"/>
          <p:cNvSpPr/>
          <p:nvPr/>
        </p:nvSpPr>
        <p:spPr>
          <a:xfrm>
            <a:off x="5852160" y="384962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uméro 158"/>
          <p:cNvSpPr txBox="1"/>
          <p:nvPr/>
        </p:nvSpPr>
        <p:spPr>
          <a:xfrm>
            <a:off x="5852160" y="3849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e 159"/>
          <p:cNvSpPr txBox="1"/>
          <p:nvPr/>
        </p:nvSpPr>
        <p:spPr>
          <a:xfrm>
            <a:off x="6446520" y="3867912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Importez vos textes</a:t>
            </a:r>
            <a:endParaRPr lang="en-US" sz="1700" dirty="0"/>
          </a:p>
        </p:txBody>
      </p:sp>
      <p:sp>
        <p:nvSpPr>
          <p:cNvPr id="18" name="Texte 160"/>
          <p:cNvSpPr txBox="1"/>
          <p:nvPr/>
        </p:nvSpPr>
        <p:spPr>
          <a:xfrm>
            <a:off x="6446520" y="4279392"/>
            <a:ext cx="51937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Import document…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: Word (.docx), OpenDocument (.odt), texte (.txt) ou PDF contenant du texte.</a:t>
            </a:r>
            <a:endParaRPr lang="en-US" sz="1400" dirty="0"/>
          </a:p>
        </p:txBody>
      </p:sp>
      <p:sp>
        <p:nvSpPr>
          <p:cNvPr id="19" name="Pastille 161"/>
          <p:cNvSpPr/>
          <p:nvPr/>
        </p:nvSpPr>
        <p:spPr>
          <a:xfrm>
            <a:off x="5852160" y="502005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Numéro 162"/>
          <p:cNvSpPr txBox="1"/>
          <p:nvPr/>
        </p:nvSpPr>
        <p:spPr>
          <a:xfrm>
            <a:off x="5852160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e 163"/>
          <p:cNvSpPr txBox="1"/>
          <p:nvPr/>
        </p:nvSpPr>
        <p:spPr>
          <a:xfrm>
            <a:off x="6446520" y="5038344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Enregistrez</a:t>
            </a:r>
            <a:endParaRPr lang="en-US" sz="1700" dirty="0"/>
          </a:p>
        </p:txBody>
      </p:sp>
      <p:sp>
        <p:nvSpPr>
          <p:cNvPr id="22" name="Texte 164"/>
          <p:cNvSpPr txBox="1"/>
          <p:nvPr/>
        </p:nvSpPr>
        <p:spPr>
          <a:xfrm>
            <a:off x="6446520" y="5449824"/>
            <a:ext cx="51937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Save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: tout le projet tient dans un seul fichier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.qdaproj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rangé où vous voulez.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de partie 165"/>
          <p:cNvSpPr txBox="1"/>
          <p:nvPr/>
        </p:nvSpPr>
        <p:spPr>
          <a:xfrm>
            <a:off x="822960" y="182880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3291840" y="224028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Les bases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3291840" y="3611880"/>
            <a:ext cx="8138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Les écrans, le vocabulaire et les quatre gestes du quotidien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Quatre onglets, quatre moments du travail</a:t>
            </a:r>
            <a:endParaRPr lang="en-US" sz="3400" dirty="0"/>
          </a:p>
        </p:txBody>
      </p:sp>
      <p:pic>
        <p:nvPicPr>
          <p:cNvPr id="4" name="Barre du haut 166" descr="La barre du haut : Workspace, Analysis, Board, Export, puis Undo, Redo, Save, Save As, History, Clo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498080" cy="478869"/>
          </a:xfrm>
          <a:prstGeom prst="rect">
            <a:avLst/>
          </a:prstGeom>
        </p:spPr>
      </p:pic>
      <p:sp>
        <p:nvSpPr>
          <p:cNvPr id="5" name="Texte 167"/>
          <p:cNvSpPr txBox="1"/>
          <p:nvPr/>
        </p:nvSpPr>
        <p:spPr>
          <a:xfrm>
            <a:off x="8321040" y="151790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070"/>
                </a:solidFill>
              </a:rPr>
              <a:t>La barre du haut, toujours visible.</a:t>
            </a:r>
            <a:endParaRPr lang="en-US" sz="1200" dirty="0"/>
          </a:p>
        </p:txBody>
      </p:sp>
      <p:sp>
        <p:nvSpPr>
          <p:cNvPr id="6" name="Carte 168"/>
          <p:cNvSpPr/>
          <p:nvPr/>
        </p:nvSpPr>
        <p:spPr>
          <a:xfrm>
            <a:off x="548640" y="2331720"/>
            <a:ext cx="2567864" cy="274320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Pastille 169"/>
          <p:cNvSpPr/>
          <p:nvPr/>
        </p:nvSpPr>
        <p:spPr>
          <a:xfrm>
            <a:off x="777240" y="2560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ône 17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2702966"/>
            <a:ext cx="263347" cy="263347"/>
          </a:xfrm>
          <a:prstGeom prst="rect">
            <a:avLst/>
          </a:prstGeom>
        </p:spPr>
      </p:pic>
      <p:sp>
        <p:nvSpPr>
          <p:cNvPr id="9" name="Texte 171"/>
          <p:cNvSpPr txBox="1"/>
          <p:nvPr/>
        </p:nvSpPr>
        <p:spPr>
          <a:xfrm>
            <a:off x="777240" y="32461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Workspace</a:t>
            </a:r>
            <a:endParaRPr lang="en-US" sz="1900" dirty="0"/>
          </a:p>
        </p:txBody>
      </p:sp>
      <p:sp>
        <p:nvSpPr>
          <p:cNvPr id="10" name="Texte 172"/>
          <p:cNvSpPr txBox="1"/>
          <p:nvPr/>
        </p:nvSpPr>
        <p:spPr>
          <a:xfrm>
            <a:off x="777240" y="3657600"/>
            <a:ext cx="21106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Lire, coder, annoter. Vos documents à gauche, le texte au centre, codes et notes à droite.</a:t>
            </a:r>
            <a:endParaRPr lang="en-US" sz="1400" dirty="0"/>
          </a:p>
        </p:txBody>
      </p:sp>
      <p:sp>
        <p:nvSpPr>
          <p:cNvPr id="11" name="Carte 173"/>
          <p:cNvSpPr/>
          <p:nvPr/>
        </p:nvSpPr>
        <p:spPr>
          <a:xfrm>
            <a:off x="3390824" y="2331720"/>
            <a:ext cx="2567864" cy="274320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astille 174"/>
          <p:cNvSpPr/>
          <p:nvPr/>
        </p:nvSpPr>
        <p:spPr>
          <a:xfrm>
            <a:off x="3619424" y="25603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cône 17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070" y="2702966"/>
            <a:ext cx="263347" cy="263347"/>
          </a:xfrm>
          <a:prstGeom prst="rect">
            <a:avLst/>
          </a:prstGeom>
        </p:spPr>
      </p:pic>
      <p:sp>
        <p:nvSpPr>
          <p:cNvPr id="14" name="Texte 176"/>
          <p:cNvSpPr txBox="1"/>
          <p:nvPr/>
        </p:nvSpPr>
        <p:spPr>
          <a:xfrm>
            <a:off x="3619424" y="32461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Analysis</a:t>
            </a:r>
            <a:endParaRPr lang="en-US" sz="1900" dirty="0"/>
          </a:p>
        </p:txBody>
      </p:sp>
      <p:sp>
        <p:nvSpPr>
          <p:cNvPr id="15" name="Texte 177"/>
          <p:cNvSpPr txBox="1"/>
          <p:nvPr/>
        </p:nvSpPr>
        <p:spPr>
          <a:xfrm>
            <a:off x="3619424" y="3657600"/>
            <a:ext cx="21106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Retrouver et comparer : passages par code, recherche, cas côte à côte, co-occurrences.</a:t>
            </a:r>
            <a:endParaRPr lang="en-US" sz="1400" dirty="0"/>
          </a:p>
        </p:txBody>
      </p:sp>
      <p:sp>
        <p:nvSpPr>
          <p:cNvPr id="16" name="Carte 178"/>
          <p:cNvSpPr/>
          <p:nvPr/>
        </p:nvSpPr>
        <p:spPr>
          <a:xfrm>
            <a:off x="6233008" y="2331720"/>
            <a:ext cx="2567864" cy="274320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 179"/>
          <p:cNvSpPr/>
          <p:nvPr/>
        </p:nvSpPr>
        <p:spPr>
          <a:xfrm>
            <a:off x="6461608" y="256032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Icône 18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254" y="2702966"/>
            <a:ext cx="263347" cy="263347"/>
          </a:xfrm>
          <a:prstGeom prst="rect">
            <a:avLst/>
          </a:prstGeom>
        </p:spPr>
      </p:pic>
      <p:sp>
        <p:nvSpPr>
          <p:cNvPr id="19" name="Texte 181"/>
          <p:cNvSpPr txBox="1"/>
          <p:nvPr/>
        </p:nvSpPr>
        <p:spPr>
          <a:xfrm>
            <a:off x="6461608" y="32461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Board</a:t>
            </a:r>
            <a:endParaRPr lang="en-US" sz="1900" dirty="0"/>
          </a:p>
        </p:txBody>
      </p:sp>
      <p:sp>
        <p:nvSpPr>
          <p:cNvPr id="20" name="Texte 182"/>
          <p:cNvSpPr txBox="1"/>
          <p:nvPr/>
        </p:nvSpPr>
        <p:spPr>
          <a:xfrm>
            <a:off x="6461608" y="3657600"/>
            <a:ext cx="21106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Regrouper visuellement codes et notes en clusters, les imbriquer, les relier.</a:t>
            </a:r>
            <a:endParaRPr lang="en-US" sz="1400" dirty="0"/>
          </a:p>
        </p:txBody>
      </p:sp>
      <p:sp>
        <p:nvSpPr>
          <p:cNvPr id="21" name="Carte 183"/>
          <p:cNvSpPr/>
          <p:nvPr/>
        </p:nvSpPr>
        <p:spPr>
          <a:xfrm>
            <a:off x="9075191" y="2331720"/>
            <a:ext cx="2567864" cy="2743200"/>
          </a:xfrm>
          <a:prstGeom prst="roundRect">
            <a:avLst>
              <a:gd name="adj" fmla="val 284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Pastille 184"/>
          <p:cNvSpPr/>
          <p:nvPr/>
        </p:nvSpPr>
        <p:spPr>
          <a:xfrm>
            <a:off x="9303791" y="256032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3" name="Icône 18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6438" y="2702966"/>
            <a:ext cx="263347" cy="263347"/>
          </a:xfrm>
          <a:prstGeom prst="rect">
            <a:avLst/>
          </a:prstGeom>
        </p:spPr>
      </p:pic>
      <p:sp>
        <p:nvSpPr>
          <p:cNvPr id="24" name="Texte 186"/>
          <p:cNvSpPr txBox="1"/>
          <p:nvPr/>
        </p:nvSpPr>
        <p:spPr>
          <a:xfrm>
            <a:off x="9303791" y="32461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Export</a:t>
            </a:r>
            <a:endParaRPr lang="en-US" sz="1900" dirty="0"/>
          </a:p>
        </p:txBody>
      </p:sp>
      <p:sp>
        <p:nvSpPr>
          <p:cNvPr id="25" name="Texte 187"/>
          <p:cNvSpPr txBox="1"/>
          <p:nvPr/>
        </p:nvSpPr>
        <p:spPr>
          <a:xfrm>
            <a:off x="9303791" y="3657600"/>
            <a:ext cx="211066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Rapports Word ou PDF, tableur Excel, échange avec d’autres logiciels.</a:t>
            </a:r>
            <a:endParaRPr lang="en-US" sz="1400" dirty="0"/>
          </a:p>
        </p:txBody>
      </p:sp>
      <p:sp>
        <p:nvSpPr>
          <p:cNvPr id="26" name="Carte 188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Pastille 189"/>
          <p:cNvSpPr/>
          <p:nvPr/>
        </p:nvSpPr>
        <p:spPr>
          <a:xfrm>
            <a:off x="731520" y="5513832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8" name="Icône 19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127" y="5618439"/>
            <a:ext cx="193121" cy="193121"/>
          </a:xfrm>
          <a:prstGeom prst="rect">
            <a:avLst/>
          </a:prstGeom>
        </p:spPr>
      </p:pic>
      <p:sp>
        <p:nvSpPr>
          <p:cNvPr id="29" name="Texte 191"/>
          <p:cNvSpPr txBox="1"/>
          <p:nvPr/>
        </p:nvSpPr>
        <p:spPr>
          <a:xfrm>
            <a:off x="1298448" y="530352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L’interface est en anglais. Ce guide cite chaque bouton tel qu’il est écrit à l’écran, en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gras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Six mots à connaître</a:t>
            </a:r>
            <a:endParaRPr lang="en-US" sz="3400" dirty="0"/>
          </a:p>
        </p:txBody>
      </p:sp>
      <p:sp>
        <p:nvSpPr>
          <p:cNvPr id="4" name="Carte 192"/>
          <p:cNvSpPr/>
          <p:nvPr/>
        </p:nvSpPr>
        <p:spPr>
          <a:xfrm>
            <a:off x="548640" y="1554480"/>
            <a:ext cx="351525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 193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Icône 19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71446"/>
            <a:ext cx="263347" cy="263347"/>
          </a:xfrm>
          <a:prstGeom prst="rect">
            <a:avLst/>
          </a:prstGeom>
        </p:spPr>
      </p:pic>
      <p:sp>
        <p:nvSpPr>
          <p:cNvPr id="7" name="Texte 195"/>
          <p:cNvSpPr txBox="1"/>
          <p:nvPr/>
        </p:nvSpPr>
        <p:spPr>
          <a:xfrm>
            <a:off x="1554480" y="1828800"/>
            <a:ext cx="2235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Document</a:t>
            </a:r>
            <a:endParaRPr lang="en-US" sz="2000" dirty="0"/>
          </a:p>
        </p:txBody>
      </p:sp>
      <p:sp>
        <p:nvSpPr>
          <p:cNvPr id="8" name="Texte 196"/>
          <p:cNvSpPr txBox="1"/>
          <p:nvPr/>
        </p:nvSpPr>
        <p:spPr>
          <a:xfrm>
            <a:off x="822960" y="256032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 texte importé. En général, un entretien, donc un cas.</a:t>
            </a:r>
            <a:endParaRPr lang="en-US" sz="1500" dirty="0"/>
          </a:p>
        </p:txBody>
      </p:sp>
      <p:sp>
        <p:nvSpPr>
          <p:cNvPr id="9" name="Carte 197"/>
          <p:cNvSpPr/>
          <p:nvPr/>
        </p:nvSpPr>
        <p:spPr>
          <a:xfrm>
            <a:off x="4338218" y="1554480"/>
            <a:ext cx="351525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 198"/>
          <p:cNvSpPr/>
          <p:nvPr/>
        </p:nvSpPr>
        <p:spPr>
          <a:xfrm>
            <a:off x="4612538" y="18288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cône 19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185" y="1971446"/>
            <a:ext cx="263347" cy="263347"/>
          </a:xfrm>
          <a:prstGeom prst="rect">
            <a:avLst/>
          </a:prstGeom>
        </p:spPr>
      </p:pic>
      <p:sp>
        <p:nvSpPr>
          <p:cNvPr id="12" name="Texte 200"/>
          <p:cNvSpPr txBox="1"/>
          <p:nvPr/>
        </p:nvSpPr>
        <p:spPr>
          <a:xfrm>
            <a:off x="5344058" y="1828800"/>
            <a:ext cx="2235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Passage</a:t>
            </a:r>
            <a:endParaRPr lang="en-US" sz="2000" dirty="0"/>
          </a:p>
        </p:txBody>
      </p:sp>
      <p:sp>
        <p:nvSpPr>
          <p:cNvPr id="13" name="Texte 201"/>
          <p:cNvSpPr txBox="1"/>
          <p:nvPr/>
        </p:nvSpPr>
        <p:spPr>
          <a:xfrm>
            <a:off x="4612538" y="256032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 extrait que vous avez surligné. Cadenza en garde le texte exact.</a:t>
            </a:r>
            <a:endParaRPr lang="en-US" sz="1500" dirty="0"/>
          </a:p>
        </p:txBody>
      </p:sp>
      <p:sp>
        <p:nvSpPr>
          <p:cNvPr id="14" name="Carte 202"/>
          <p:cNvSpPr/>
          <p:nvPr/>
        </p:nvSpPr>
        <p:spPr>
          <a:xfrm>
            <a:off x="8127797" y="1554480"/>
            <a:ext cx="351525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 203"/>
          <p:cNvSpPr/>
          <p:nvPr/>
        </p:nvSpPr>
        <p:spPr>
          <a:xfrm>
            <a:off x="8402117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 20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763" y="1971446"/>
            <a:ext cx="263347" cy="263347"/>
          </a:xfrm>
          <a:prstGeom prst="rect">
            <a:avLst/>
          </a:prstGeom>
        </p:spPr>
      </p:pic>
      <p:sp>
        <p:nvSpPr>
          <p:cNvPr id="17" name="Texte 205"/>
          <p:cNvSpPr txBox="1"/>
          <p:nvPr/>
        </p:nvSpPr>
        <p:spPr>
          <a:xfrm>
            <a:off x="9133637" y="1828800"/>
            <a:ext cx="2235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Code</a:t>
            </a:r>
            <a:endParaRPr lang="en-US" sz="2000" dirty="0"/>
          </a:p>
        </p:txBody>
      </p:sp>
      <p:sp>
        <p:nvSpPr>
          <p:cNvPr id="18" name="Texte 206"/>
          <p:cNvSpPr txBox="1"/>
          <p:nvPr/>
        </p:nvSpPr>
        <p:spPr>
          <a:xfrm>
            <a:off x="8402117" y="256032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Une étiquette posée sur des passages, avec une couleur et une définition.</a:t>
            </a:r>
            <a:endParaRPr lang="en-US" sz="1500" dirty="0"/>
          </a:p>
        </p:txBody>
      </p:sp>
      <p:sp>
        <p:nvSpPr>
          <p:cNvPr id="19" name="Carte 207"/>
          <p:cNvSpPr/>
          <p:nvPr/>
        </p:nvSpPr>
        <p:spPr>
          <a:xfrm>
            <a:off x="548640" y="3977640"/>
            <a:ext cx="351525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 208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Icône 20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4394606"/>
            <a:ext cx="263347" cy="263347"/>
          </a:xfrm>
          <a:prstGeom prst="rect">
            <a:avLst/>
          </a:prstGeom>
        </p:spPr>
      </p:pic>
      <p:sp>
        <p:nvSpPr>
          <p:cNvPr id="22" name="Texte 210"/>
          <p:cNvSpPr txBox="1"/>
          <p:nvPr/>
        </p:nvSpPr>
        <p:spPr>
          <a:xfrm>
            <a:off x="1554480" y="4251960"/>
            <a:ext cx="2235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Note</a:t>
            </a:r>
            <a:endParaRPr lang="en-US" sz="2000" dirty="0"/>
          </a:p>
        </p:txBody>
      </p:sp>
      <p:sp>
        <p:nvSpPr>
          <p:cNvPr id="23" name="Texte 211"/>
          <p:cNvSpPr txBox="1"/>
          <p:nvPr/>
        </p:nvSpPr>
        <p:spPr>
          <a:xfrm>
            <a:off x="822960" y="498348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 mémo libre, avec si vous le voulez une question et sa réponse.</a:t>
            </a:r>
            <a:endParaRPr lang="en-US" sz="1500" dirty="0"/>
          </a:p>
        </p:txBody>
      </p:sp>
      <p:sp>
        <p:nvSpPr>
          <p:cNvPr id="24" name="Carte 212"/>
          <p:cNvSpPr/>
          <p:nvPr/>
        </p:nvSpPr>
        <p:spPr>
          <a:xfrm>
            <a:off x="4338218" y="3977640"/>
            <a:ext cx="351525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 213"/>
          <p:cNvSpPr/>
          <p:nvPr/>
        </p:nvSpPr>
        <p:spPr>
          <a:xfrm>
            <a:off x="4612538" y="42519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6" name="Icône 21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5185" y="4394606"/>
            <a:ext cx="263347" cy="263347"/>
          </a:xfrm>
          <a:prstGeom prst="rect">
            <a:avLst/>
          </a:prstGeom>
        </p:spPr>
      </p:pic>
      <p:sp>
        <p:nvSpPr>
          <p:cNvPr id="27" name="Texte 215"/>
          <p:cNvSpPr txBox="1"/>
          <p:nvPr/>
        </p:nvSpPr>
        <p:spPr>
          <a:xfrm>
            <a:off x="5344058" y="4251960"/>
            <a:ext cx="2235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Cluster</a:t>
            </a:r>
            <a:endParaRPr lang="en-US" sz="2000" dirty="0"/>
          </a:p>
        </p:txBody>
      </p:sp>
      <p:sp>
        <p:nvSpPr>
          <p:cNvPr id="28" name="Texte 216"/>
          <p:cNvSpPr txBox="1"/>
          <p:nvPr/>
        </p:nvSpPr>
        <p:spPr>
          <a:xfrm>
            <a:off x="4612538" y="498348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 regroupement de codes et de notes : un thème, ou une question analytique.</a:t>
            </a:r>
            <a:endParaRPr lang="en-US" sz="1500" dirty="0"/>
          </a:p>
        </p:txBody>
      </p:sp>
      <p:sp>
        <p:nvSpPr>
          <p:cNvPr id="29" name="Carte 217"/>
          <p:cNvSpPr/>
          <p:nvPr/>
        </p:nvSpPr>
        <p:spPr>
          <a:xfrm>
            <a:off x="8127797" y="3977640"/>
            <a:ext cx="351525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 218"/>
          <p:cNvSpPr/>
          <p:nvPr/>
        </p:nvSpPr>
        <p:spPr>
          <a:xfrm>
            <a:off x="8402117" y="425196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1" name="Icône 21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4763" y="4394606"/>
            <a:ext cx="263347" cy="263347"/>
          </a:xfrm>
          <a:prstGeom prst="rect">
            <a:avLst/>
          </a:prstGeom>
        </p:spPr>
      </p:pic>
      <p:sp>
        <p:nvSpPr>
          <p:cNvPr id="32" name="Texte 220"/>
          <p:cNvSpPr txBox="1"/>
          <p:nvPr/>
        </p:nvSpPr>
        <p:spPr>
          <a:xfrm>
            <a:off x="9133637" y="4251960"/>
            <a:ext cx="22350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Board</a:t>
            </a:r>
            <a:endParaRPr lang="en-US" sz="2000" dirty="0"/>
          </a:p>
        </p:txBody>
      </p:sp>
      <p:sp>
        <p:nvSpPr>
          <p:cNvPr id="33" name="Texte 221"/>
          <p:cNvSpPr txBox="1"/>
          <p:nvPr/>
        </p:nvSpPr>
        <p:spPr>
          <a:xfrm>
            <a:off x="8402117" y="498348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 tableau où l’on dispose les clusters pour voir l’ensemble.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Coder un passage en trois gestes</a:t>
            </a:r>
            <a:endParaRPr lang="en-US" sz="3400" dirty="0"/>
          </a:p>
        </p:txBody>
      </p:sp>
      <p:sp>
        <p:nvSpPr>
          <p:cNvPr id="4" name="Cadre 222"/>
          <p:cNvSpPr/>
          <p:nvPr/>
        </p:nvSpPr>
        <p:spPr>
          <a:xfrm>
            <a:off x="548640" y="1508760"/>
            <a:ext cx="6126480" cy="4475632"/>
          </a:xfrm>
          <a:prstGeom prst="rect">
            <a:avLst/>
          </a:prstGeom>
          <a:solidFill>
            <a:schemeClr val="bg1"/>
          </a:solidFill>
          <a:ln w="9525">
            <a:solidFill>
              <a:srgbClr val="D9D3E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Capture 223" descr="Un passage surligné dans le lecteur et le panneau Codes &amp; item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4480"/>
            <a:ext cx="6035040" cy="4384192"/>
          </a:xfrm>
          <a:prstGeom prst="rect">
            <a:avLst/>
          </a:prstGeom>
        </p:spPr>
      </p:pic>
      <p:sp>
        <p:nvSpPr>
          <p:cNvPr id="6" name="Texte 224"/>
          <p:cNvSpPr txBox="1"/>
          <p:nvPr/>
        </p:nvSpPr>
        <p:spPr>
          <a:xfrm>
            <a:off x="548640" y="609412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070"/>
                </a:solidFill>
              </a:rPr>
              <a:t>Le passage actif est entouré de pointillés ; ses codes s’affichent en bas à droite.</a:t>
            </a:r>
            <a:endParaRPr lang="en-US" sz="1200" dirty="0"/>
          </a:p>
        </p:txBody>
      </p:sp>
      <p:sp>
        <p:nvSpPr>
          <p:cNvPr id="7" name="Pastille 225"/>
          <p:cNvSpPr/>
          <p:nvPr/>
        </p:nvSpPr>
        <p:spPr>
          <a:xfrm>
            <a:off x="7040880" y="15087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Numéro 226"/>
          <p:cNvSpPr txBox="1"/>
          <p:nvPr/>
        </p:nvSpPr>
        <p:spPr>
          <a:xfrm>
            <a:off x="7040880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e 227"/>
          <p:cNvSpPr txBox="1"/>
          <p:nvPr/>
        </p:nvSpPr>
        <p:spPr>
          <a:xfrm>
            <a:off x="7635240" y="1527048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Surlignez le texte</a:t>
            </a:r>
            <a:endParaRPr lang="en-US" sz="1700" dirty="0"/>
          </a:p>
        </p:txBody>
      </p:sp>
      <p:sp>
        <p:nvSpPr>
          <p:cNvPr id="10" name="Texte 228"/>
          <p:cNvSpPr txBox="1"/>
          <p:nvPr/>
        </p:nvSpPr>
        <p:spPr>
          <a:xfrm>
            <a:off x="7635240" y="1938528"/>
            <a:ext cx="4005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Il s’entoure de pointillés : c’est le passage actif.</a:t>
            </a:r>
            <a:endParaRPr lang="en-US" sz="1400" dirty="0"/>
          </a:p>
        </p:txBody>
      </p:sp>
      <p:sp>
        <p:nvSpPr>
          <p:cNvPr id="11" name="Pastille 229"/>
          <p:cNvSpPr/>
          <p:nvPr/>
        </p:nvSpPr>
        <p:spPr>
          <a:xfrm>
            <a:off x="7040880" y="272491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Numéro 230"/>
          <p:cNvSpPr txBox="1"/>
          <p:nvPr/>
        </p:nvSpPr>
        <p:spPr>
          <a:xfrm>
            <a:off x="7040880" y="2724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e 231"/>
          <p:cNvSpPr txBox="1"/>
          <p:nvPr/>
        </p:nvSpPr>
        <p:spPr>
          <a:xfrm>
            <a:off x="7635240" y="2743200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Donnez-lui un code</a:t>
            </a:r>
            <a:endParaRPr lang="en-US" sz="1700" dirty="0"/>
          </a:p>
        </p:txBody>
      </p:sp>
      <p:sp>
        <p:nvSpPr>
          <p:cNvPr id="14" name="Texte 232"/>
          <p:cNvSpPr txBox="1"/>
          <p:nvPr/>
        </p:nvSpPr>
        <p:spPr>
          <a:xfrm>
            <a:off x="7635240" y="3154680"/>
            <a:ext cx="4005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Onglet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Codes &amp; items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: tapez un nom puis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Add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ou survolez un code existant et cliquez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Apply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15" name="Pastille 233"/>
          <p:cNvSpPr/>
          <p:nvPr/>
        </p:nvSpPr>
        <p:spPr>
          <a:xfrm>
            <a:off x="7040880" y="394106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uméro 234"/>
          <p:cNvSpPr txBox="1"/>
          <p:nvPr/>
        </p:nvSpPr>
        <p:spPr>
          <a:xfrm>
            <a:off x="7040880" y="3941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e 235"/>
          <p:cNvSpPr txBox="1"/>
          <p:nvPr/>
        </p:nvSpPr>
        <p:spPr>
          <a:xfrm>
            <a:off x="7635240" y="3959352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Passez au suivant</a:t>
            </a:r>
            <a:endParaRPr lang="en-US" sz="1700" dirty="0"/>
          </a:p>
        </p:txBody>
      </p:sp>
      <p:sp>
        <p:nvSpPr>
          <p:cNvPr id="18" name="Texte 236"/>
          <p:cNvSpPr txBox="1"/>
          <p:nvPr/>
        </p:nvSpPr>
        <p:spPr>
          <a:xfrm>
            <a:off x="7635240" y="4370832"/>
            <a:ext cx="4005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Done — clear selection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ou surlignez un autre passage.</a:t>
            </a:r>
            <a:endParaRPr lang="en-US" sz="1400" dirty="0"/>
          </a:p>
        </p:txBody>
      </p:sp>
      <p:sp>
        <p:nvSpPr>
          <p:cNvPr id="19" name="Carte 237"/>
          <p:cNvSpPr/>
          <p:nvPr/>
        </p:nvSpPr>
        <p:spPr>
          <a:xfrm>
            <a:off x="7040880" y="5257800"/>
            <a:ext cx="4599432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 238"/>
          <p:cNvSpPr/>
          <p:nvPr/>
        </p:nvSpPr>
        <p:spPr>
          <a:xfrm>
            <a:off x="7223760" y="5490972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23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367" y="5595579"/>
            <a:ext cx="193121" cy="193121"/>
          </a:xfrm>
          <a:prstGeom prst="rect">
            <a:avLst/>
          </a:prstGeom>
        </p:spPr>
      </p:pic>
      <p:sp>
        <p:nvSpPr>
          <p:cNvPr id="22" name="Texte 240"/>
          <p:cNvSpPr txBox="1"/>
          <p:nvPr/>
        </p:nvSpPr>
        <p:spPr>
          <a:xfrm>
            <a:off x="7790688" y="5257800"/>
            <a:ext cx="3685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passage peut porter plusieurs codes. Double-cliquez sur un code pour relire tous ses passages.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Annoter : notes, questions et réponses</a:t>
            </a:r>
            <a:endParaRPr lang="en-US" sz="3400" dirty="0"/>
          </a:p>
        </p:txBody>
      </p:sp>
      <p:sp>
        <p:nvSpPr>
          <p:cNvPr id="4" name="Cadre 241"/>
          <p:cNvSpPr/>
          <p:nvPr/>
        </p:nvSpPr>
        <p:spPr>
          <a:xfrm>
            <a:off x="548640" y="1508760"/>
            <a:ext cx="6126480" cy="4475632"/>
          </a:xfrm>
          <a:prstGeom prst="rect">
            <a:avLst/>
          </a:prstGeom>
          <a:solidFill>
            <a:schemeClr val="bg1"/>
          </a:solidFill>
          <a:ln w="9525">
            <a:solidFill>
              <a:srgbClr val="D9D3E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Capture 242" descr="Le formulaire de note ouvert sur un passage surlign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4480"/>
            <a:ext cx="6035040" cy="4384192"/>
          </a:xfrm>
          <a:prstGeom prst="rect">
            <a:avLst/>
          </a:prstGeom>
        </p:spPr>
      </p:pic>
      <p:sp>
        <p:nvSpPr>
          <p:cNvPr id="6" name="Texte 243"/>
          <p:cNvSpPr txBox="1"/>
          <p:nvPr/>
        </p:nvSpPr>
        <p:spPr>
          <a:xfrm>
            <a:off x="548640" y="609412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070"/>
                </a:solidFill>
              </a:rPr>
              <a:t>Le formulaire s’ouvre avec la citation du passage surligné.</a:t>
            </a:r>
            <a:endParaRPr lang="en-US" sz="1200" dirty="0"/>
          </a:p>
        </p:txBody>
      </p:sp>
      <p:sp>
        <p:nvSpPr>
          <p:cNvPr id="7" name="Pastille 244"/>
          <p:cNvSpPr/>
          <p:nvPr/>
        </p:nvSpPr>
        <p:spPr>
          <a:xfrm>
            <a:off x="7040880" y="15087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Numéro 245"/>
          <p:cNvSpPr txBox="1"/>
          <p:nvPr/>
        </p:nvSpPr>
        <p:spPr>
          <a:xfrm>
            <a:off x="7040880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e 246"/>
          <p:cNvSpPr txBox="1"/>
          <p:nvPr/>
        </p:nvSpPr>
        <p:spPr>
          <a:xfrm>
            <a:off x="7635240" y="1527048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Surlignez, ouvrez l’onglet Notes</a:t>
            </a:r>
            <a:endParaRPr lang="en-US" sz="1700" dirty="0"/>
          </a:p>
        </p:txBody>
      </p:sp>
      <p:sp>
        <p:nvSpPr>
          <p:cNvPr id="10" name="Texte 247"/>
          <p:cNvSpPr txBox="1"/>
          <p:nvPr/>
        </p:nvSpPr>
        <p:spPr>
          <a:xfrm>
            <a:off x="7635240" y="1938528"/>
            <a:ext cx="4005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formulaire apparaît tout seul.</a:t>
            </a:r>
            <a:endParaRPr lang="en-US" sz="1400" dirty="0"/>
          </a:p>
        </p:txBody>
      </p:sp>
      <p:sp>
        <p:nvSpPr>
          <p:cNvPr id="11" name="Pastille 248"/>
          <p:cNvSpPr/>
          <p:nvPr/>
        </p:nvSpPr>
        <p:spPr>
          <a:xfrm>
            <a:off x="7040880" y="244144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Numéro 249"/>
          <p:cNvSpPr txBox="1"/>
          <p:nvPr/>
        </p:nvSpPr>
        <p:spPr>
          <a:xfrm>
            <a:off x="7040880" y="2441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e 250"/>
          <p:cNvSpPr txBox="1"/>
          <p:nvPr/>
        </p:nvSpPr>
        <p:spPr>
          <a:xfrm>
            <a:off x="7635240" y="2459736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Écrivez</a:t>
            </a:r>
            <a:endParaRPr lang="en-US" sz="1700" dirty="0"/>
          </a:p>
        </p:txBody>
      </p:sp>
      <p:sp>
        <p:nvSpPr>
          <p:cNvPr id="14" name="Texte 251"/>
          <p:cNvSpPr txBox="1"/>
          <p:nvPr/>
        </p:nvSpPr>
        <p:spPr>
          <a:xfrm>
            <a:off x="7635240" y="2871216"/>
            <a:ext cx="4005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Une question si vous en avez une, puis votre réponse ou votre mémo.</a:t>
            </a:r>
            <a:endParaRPr lang="en-US" sz="1400" dirty="0"/>
          </a:p>
        </p:txBody>
      </p:sp>
      <p:sp>
        <p:nvSpPr>
          <p:cNvPr id="15" name="Pastille 252"/>
          <p:cNvSpPr/>
          <p:nvPr/>
        </p:nvSpPr>
        <p:spPr>
          <a:xfrm>
            <a:off x="7040880" y="337413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uméro 253"/>
          <p:cNvSpPr txBox="1"/>
          <p:nvPr/>
        </p:nvSpPr>
        <p:spPr>
          <a:xfrm>
            <a:off x="7040880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e 254"/>
          <p:cNvSpPr txBox="1"/>
          <p:nvPr/>
        </p:nvSpPr>
        <p:spPr>
          <a:xfrm>
            <a:off x="7635240" y="3392424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Classez si besoin</a:t>
            </a:r>
            <a:endParaRPr lang="en-US" sz="1700" dirty="0"/>
          </a:p>
        </p:txBody>
      </p:sp>
      <p:sp>
        <p:nvSpPr>
          <p:cNvPr id="18" name="Texte 255"/>
          <p:cNvSpPr txBox="1"/>
          <p:nvPr/>
        </p:nvSpPr>
        <p:spPr>
          <a:xfrm>
            <a:off x="7635240" y="3803904"/>
            <a:ext cx="4005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type de note (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Categories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) et des étiquettes.</a:t>
            </a:r>
            <a:endParaRPr lang="en-US" sz="1400" dirty="0"/>
          </a:p>
        </p:txBody>
      </p:sp>
      <p:sp>
        <p:nvSpPr>
          <p:cNvPr id="19" name="Pastille 256"/>
          <p:cNvSpPr/>
          <p:nvPr/>
        </p:nvSpPr>
        <p:spPr>
          <a:xfrm>
            <a:off x="7040880" y="430682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Numéro 257"/>
          <p:cNvSpPr txBox="1"/>
          <p:nvPr/>
        </p:nvSpPr>
        <p:spPr>
          <a:xfrm>
            <a:off x="7040880" y="4306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e 258"/>
          <p:cNvSpPr txBox="1"/>
          <p:nvPr/>
        </p:nvSpPr>
        <p:spPr>
          <a:xfrm>
            <a:off x="7635240" y="4325112"/>
            <a:ext cx="4005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Add note</a:t>
            </a:r>
            <a:endParaRPr lang="en-US" sz="1700" dirty="0"/>
          </a:p>
        </p:txBody>
      </p:sp>
      <p:sp>
        <p:nvSpPr>
          <p:cNvPr id="22" name="Texte 259"/>
          <p:cNvSpPr txBox="1"/>
          <p:nvPr/>
        </p:nvSpPr>
        <p:spPr>
          <a:xfrm>
            <a:off x="7635240" y="4736592"/>
            <a:ext cx="40050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note reste attachée au passage.</a:t>
            </a:r>
            <a:endParaRPr lang="en-US" sz="1400" dirty="0"/>
          </a:p>
        </p:txBody>
      </p:sp>
      <p:sp>
        <p:nvSpPr>
          <p:cNvPr id="23" name="Carte 260"/>
          <p:cNvSpPr/>
          <p:nvPr/>
        </p:nvSpPr>
        <p:spPr>
          <a:xfrm>
            <a:off x="7040880" y="5257800"/>
            <a:ext cx="4599432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Pastille 261"/>
          <p:cNvSpPr/>
          <p:nvPr/>
        </p:nvSpPr>
        <p:spPr>
          <a:xfrm>
            <a:off x="7223760" y="5490972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cône 26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8367" y="5595579"/>
            <a:ext cx="193121" cy="193121"/>
          </a:xfrm>
          <a:prstGeom prst="rect">
            <a:avLst/>
          </a:prstGeom>
        </p:spPr>
      </p:pic>
      <p:sp>
        <p:nvSpPr>
          <p:cNvPr id="26" name="Texte 263"/>
          <p:cNvSpPr txBox="1"/>
          <p:nvPr/>
        </p:nvSpPr>
        <p:spPr>
          <a:xfrm>
            <a:off x="7790688" y="5257800"/>
            <a:ext cx="3685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+ Note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sans rien surligner : une note sur le document entier ou sur le projet, pour votre journal de recherche.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Regrouper : les clusters et le tableau</a:t>
            </a:r>
            <a:endParaRPr lang="en-US" sz="3400" dirty="0"/>
          </a:p>
        </p:txBody>
      </p:sp>
      <p:sp>
        <p:nvSpPr>
          <p:cNvPr id="4" name="Cadre 264"/>
          <p:cNvSpPr/>
          <p:nvPr/>
        </p:nvSpPr>
        <p:spPr>
          <a:xfrm>
            <a:off x="548640" y="1508760"/>
            <a:ext cx="6309360" cy="3965883"/>
          </a:xfrm>
          <a:prstGeom prst="rect">
            <a:avLst/>
          </a:prstGeom>
          <a:solidFill>
            <a:schemeClr val="bg1"/>
          </a:solidFill>
          <a:ln w="9525">
            <a:solidFill>
              <a:srgbClr val="D9D3E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Capture 265" descr="Le tableau : des clusters de codes et de notes, imbriqué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4480"/>
            <a:ext cx="6217920" cy="3874443"/>
          </a:xfrm>
          <a:prstGeom prst="rect">
            <a:avLst/>
          </a:prstGeom>
        </p:spPr>
      </p:pic>
      <p:sp>
        <p:nvSpPr>
          <p:cNvPr id="6" name="Texte 266"/>
          <p:cNvSpPr txBox="1"/>
          <p:nvPr/>
        </p:nvSpPr>
        <p:spPr>
          <a:xfrm>
            <a:off x="548640" y="5584371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070"/>
                </a:solidFill>
              </a:rPr>
              <a:t>L’onglet Board : des clusters imbriqués dans un cluster plus large.</a:t>
            </a:r>
            <a:endParaRPr lang="en-US" sz="1200" dirty="0"/>
          </a:p>
        </p:txBody>
      </p:sp>
      <p:sp>
        <p:nvSpPr>
          <p:cNvPr id="7" name="Pastille 267"/>
          <p:cNvSpPr/>
          <p:nvPr/>
        </p:nvSpPr>
        <p:spPr>
          <a:xfrm>
            <a:off x="7223760" y="1508760"/>
            <a:ext cx="475488" cy="47548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Icône 26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387" y="1632387"/>
            <a:ext cx="228234" cy="228234"/>
          </a:xfrm>
          <a:prstGeom prst="rect">
            <a:avLst/>
          </a:prstGeom>
        </p:spPr>
      </p:pic>
      <p:sp>
        <p:nvSpPr>
          <p:cNvPr id="9" name="Texte 269"/>
          <p:cNvSpPr txBox="1"/>
          <p:nvPr/>
        </p:nvSpPr>
        <p:spPr>
          <a:xfrm>
            <a:off x="7882128" y="1508760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Thème ou question</a:t>
            </a:r>
            <a:endParaRPr lang="en-US" sz="1600" dirty="0"/>
          </a:p>
        </p:txBody>
      </p:sp>
      <p:sp>
        <p:nvSpPr>
          <p:cNvPr id="10" name="Texte 270"/>
          <p:cNvSpPr txBox="1"/>
          <p:nvPr/>
        </p:nvSpPr>
        <p:spPr>
          <a:xfrm>
            <a:off x="7882128" y="1874520"/>
            <a:ext cx="3758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cluster est de type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Theme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ou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Question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11" name="Pastille 271"/>
          <p:cNvSpPr/>
          <p:nvPr/>
        </p:nvSpPr>
        <p:spPr>
          <a:xfrm>
            <a:off x="7223760" y="2642616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ône 27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387" y="2766243"/>
            <a:ext cx="228234" cy="228234"/>
          </a:xfrm>
          <a:prstGeom prst="rect">
            <a:avLst/>
          </a:prstGeom>
        </p:spPr>
      </p:pic>
      <p:sp>
        <p:nvSpPr>
          <p:cNvPr id="13" name="Texte 273"/>
          <p:cNvSpPr txBox="1"/>
          <p:nvPr/>
        </p:nvSpPr>
        <p:spPr>
          <a:xfrm>
            <a:off x="7882128" y="2642616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Glisser pour classer</a:t>
            </a:r>
            <a:endParaRPr lang="en-US" sz="1600" dirty="0"/>
          </a:p>
        </p:txBody>
      </p:sp>
      <p:sp>
        <p:nvSpPr>
          <p:cNvPr id="14" name="Texte 274"/>
          <p:cNvSpPr txBox="1"/>
          <p:nvPr/>
        </p:nvSpPr>
        <p:spPr>
          <a:xfrm>
            <a:off x="7882128" y="3008376"/>
            <a:ext cx="3758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Une carte dans un cadre la classe ; un cadre dans un autre l’imbrique.</a:t>
            </a:r>
            <a:endParaRPr lang="en-US" sz="1400" dirty="0"/>
          </a:p>
        </p:txBody>
      </p:sp>
      <p:sp>
        <p:nvSpPr>
          <p:cNvPr id="15" name="Pastille 275"/>
          <p:cNvSpPr/>
          <p:nvPr/>
        </p:nvSpPr>
        <p:spPr>
          <a:xfrm>
            <a:off x="7223760" y="3776472"/>
            <a:ext cx="475488" cy="47548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cône 27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387" y="3900099"/>
            <a:ext cx="228234" cy="228234"/>
          </a:xfrm>
          <a:prstGeom prst="rect">
            <a:avLst/>
          </a:prstGeom>
        </p:spPr>
      </p:pic>
      <p:sp>
        <p:nvSpPr>
          <p:cNvPr id="17" name="Texte 277"/>
          <p:cNvSpPr txBox="1"/>
          <p:nvPr/>
        </p:nvSpPr>
        <p:spPr>
          <a:xfrm>
            <a:off x="7882128" y="3776472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Relier</a:t>
            </a:r>
            <a:endParaRPr lang="en-US" sz="1600" dirty="0"/>
          </a:p>
        </p:txBody>
      </p:sp>
      <p:sp>
        <p:nvSpPr>
          <p:cNvPr id="18" name="Texte 278"/>
          <p:cNvSpPr txBox="1"/>
          <p:nvPr/>
        </p:nvSpPr>
        <p:spPr>
          <a:xfrm>
            <a:off x="7882128" y="4142232"/>
            <a:ext cx="3758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Link clusters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trace un lien nommé entre deux thèmes.</a:t>
            </a:r>
            <a:endParaRPr lang="en-US" sz="1400" dirty="0"/>
          </a:p>
        </p:txBody>
      </p:sp>
      <p:sp>
        <p:nvSpPr>
          <p:cNvPr id="19" name="Pastille 279"/>
          <p:cNvSpPr/>
          <p:nvPr/>
        </p:nvSpPr>
        <p:spPr>
          <a:xfrm>
            <a:off x="7223760" y="4910328"/>
            <a:ext cx="475488" cy="47548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0" name="Icône 28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7387" y="5033955"/>
            <a:ext cx="228234" cy="228234"/>
          </a:xfrm>
          <a:prstGeom prst="rect">
            <a:avLst/>
          </a:prstGeom>
        </p:spPr>
      </p:pic>
      <p:sp>
        <p:nvSpPr>
          <p:cNvPr id="21" name="Texte 281"/>
          <p:cNvSpPr txBox="1"/>
          <p:nvPr/>
        </p:nvSpPr>
        <p:spPr>
          <a:xfrm>
            <a:off x="7882128" y="4910328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Grand projet ?</a:t>
            </a:r>
            <a:endParaRPr lang="en-US" sz="1600" dirty="0"/>
          </a:p>
        </p:txBody>
      </p:sp>
      <p:sp>
        <p:nvSpPr>
          <p:cNvPr id="22" name="Texte 282"/>
          <p:cNvSpPr txBox="1"/>
          <p:nvPr/>
        </p:nvSpPr>
        <p:spPr>
          <a:xfrm>
            <a:off x="7882128" y="5276088"/>
            <a:ext cx="3758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Find on board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(Ctrl+F), et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Open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pour ne travailler qu’une branche.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Retrouver et comparer : l’onglet Analysis</a:t>
            </a:r>
            <a:endParaRPr lang="en-US" sz="3400" dirty="0"/>
          </a:p>
        </p:txBody>
      </p:sp>
      <p:sp>
        <p:nvSpPr>
          <p:cNvPr id="4" name="Étiquette 283"/>
          <p:cNvSpPr/>
          <p:nvPr/>
        </p:nvSpPr>
        <p:spPr>
          <a:xfrm>
            <a:off x="548640" y="1554480"/>
            <a:ext cx="178308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e 284"/>
          <p:cNvSpPr txBox="1"/>
          <p:nvPr/>
        </p:nvSpPr>
        <p:spPr>
          <a:xfrm>
            <a:off x="548640" y="15544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Retrieval</a:t>
            </a:r>
            <a:endParaRPr lang="en-US" sz="1400" dirty="0"/>
          </a:p>
        </p:txBody>
      </p:sp>
      <p:sp>
        <p:nvSpPr>
          <p:cNvPr id="6" name="Texte 285"/>
          <p:cNvSpPr txBox="1"/>
          <p:nvPr/>
        </p:nvSpPr>
        <p:spPr>
          <a:xfrm>
            <a:off x="2514600" y="1499616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Les passages d’un ou plusieurs codes (ET, OU, SAUF), par document ou par attribut de cas. Export Excel.</a:t>
            </a:r>
            <a:endParaRPr lang="en-US" sz="1400" dirty="0"/>
          </a:p>
        </p:txBody>
      </p:sp>
      <p:sp>
        <p:nvSpPr>
          <p:cNvPr id="7" name="Étiquette 286"/>
          <p:cNvSpPr/>
          <p:nvPr/>
        </p:nvSpPr>
        <p:spPr>
          <a:xfrm>
            <a:off x="548640" y="2450592"/>
            <a:ext cx="178308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e 287"/>
          <p:cNvSpPr txBox="1"/>
          <p:nvPr/>
        </p:nvSpPr>
        <p:spPr>
          <a:xfrm>
            <a:off x="548640" y="24505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Search</a:t>
            </a:r>
            <a:endParaRPr lang="en-US" sz="1400" dirty="0"/>
          </a:p>
        </p:txBody>
      </p:sp>
      <p:sp>
        <p:nvSpPr>
          <p:cNvPr id="9" name="Texte 288"/>
          <p:cNvSpPr txBox="1"/>
          <p:nvPr/>
        </p:nvSpPr>
        <p:spPr>
          <a:xfrm>
            <a:off x="2514600" y="239572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mot ou une expression dans tous les documents ; on peut coder les résultats.</a:t>
            </a:r>
            <a:endParaRPr lang="en-US" sz="1400" dirty="0"/>
          </a:p>
        </p:txBody>
      </p:sp>
      <p:sp>
        <p:nvSpPr>
          <p:cNvPr id="10" name="Étiquette 289"/>
          <p:cNvSpPr/>
          <p:nvPr/>
        </p:nvSpPr>
        <p:spPr>
          <a:xfrm>
            <a:off x="548640" y="3346704"/>
            <a:ext cx="178308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e 290"/>
          <p:cNvSpPr txBox="1"/>
          <p:nvPr/>
        </p:nvSpPr>
        <p:spPr>
          <a:xfrm>
            <a:off x="548640" y="334670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Clusters</a:t>
            </a:r>
            <a:endParaRPr lang="en-US" sz="1400" dirty="0"/>
          </a:p>
        </p:txBody>
      </p:sp>
      <p:sp>
        <p:nvSpPr>
          <p:cNvPr id="12" name="Texte 291"/>
          <p:cNvSpPr txBox="1"/>
          <p:nvPr/>
        </p:nvSpPr>
        <p:spPr>
          <a:xfrm>
            <a:off x="2514600" y="32918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Gérer thèmes et questions : définitions, contenu.</a:t>
            </a:r>
            <a:endParaRPr lang="en-US" sz="1400" dirty="0"/>
          </a:p>
        </p:txBody>
      </p:sp>
      <p:sp>
        <p:nvSpPr>
          <p:cNvPr id="13" name="Étiquette 292"/>
          <p:cNvSpPr/>
          <p:nvPr/>
        </p:nvSpPr>
        <p:spPr>
          <a:xfrm>
            <a:off x="548640" y="4242816"/>
            <a:ext cx="178308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e 293"/>
          <p:cNvSpPr txBox="1"/>
          <p:nvPr/>
        </p:nvSpPr>
        <p:spPr>
          <a:xfrm>
            <a:off x="548640" y="424281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Compare cases</a:t>
            </a:r>
            <a:endParaRPr lang="en-US" sz="1400" dirty="0"/>
          </a:p>
        </p:txBody>
      </p:sp>
      <p:sp>
        <p:nvSpPr>
          <p:cNvPr id="15" name="Texte 294"/>
          <p:cNvSpPr txBox="1"/>
          <p:nvPr/>
        </p:nvSpPr>
        <p:spPr>
          <a:xfrm>
            <a:off x="2514600" y="4187952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 tableau thèmes × cas, ou un code côte à côte entre entretiens.</a:t>
            </a:r>
            <a:endParaRPr lang="en-US" sz="1400" dirty="0"/>
          </a:p>
        </p:txBody>
      </p:sp>
      <p:sp>
        <p:nvSpPr>
          <p:cNvPr id="16" name="Étiquette 295"/>
          <p:cNvSpPr/>
          <p:nvPr/>
        </p:nvSpPr>
        <p:spPr>
          <a:xfrm>
            <a:off x="548640" y="5138928"/>
            <a:ext cx="1783080" cy="384048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e 296"/>
          <p:cNvSpPr txBox="1"/>
          <p:nvPr/>
        </p:nvSpPr>
        <p:spPr>
          <a:xfrm>
            <a:off x="548640" y="51389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Co-occurrence</a:t>
            </a:r>
            <a:endParaRPr lang="en-US" sz="1400" dirty="0"/>
          </a:p>
        </p:txBody>
      </p:sp>
      <p:sp>
        <p:nvSpPr>
          <p:cNvPr id="18" name="Texte 297"/>
          <p:cNvSpPr txBox="1"/>
          <p:nvPr/>
        </p:nvSpPr>
        <p:spPr>
          <a:xfrm>
            <a:off x="2514600" y="5084064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Quels codes se rencontrent sur les mêmes passages.</a:t>
            </a:r>
            <a:endParaRPr lang="en-US" sz="1400" dirty="0"/>
          </a:p>
        </p:txBody>
      </p:sp>
      <p:sp>
        <p:nvSpPr>
          <p:cNvPr id="19" name="Cadre 298"/>
          <p:cNvSpPr/>
          <p:nvPr/>
        </p:nvSpPr>
        <p:spPr>
          <a:xfrm>
            <a:off x="6153912" y="1508760"/>
            <a:ext cx="5486400" cy="3448594"/>
          </a:xfrm>
          <a:prstGeom prst="rect">
            <a:avLst/>
          </a:prstGeom>
          <a:solidFill>
            <a:schemeClr val="bg1"/>
          </a:solidFill>
          <a:ln w="9525">
            <a:solidFill>
              <a:srgbClr val="D9D3E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20" name="Capture 299" descr="Retrieval : les passages codés d’un entreti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2" y="1554480"/>
            <a:ext cx="5394960" cy="3357154"/>
          </a:xfrm>
          <a:prstGeom prst="rect">
            <a:avLst/>
          </a:prstGeom>
        </p:spPr>
      </p:pic>
      <p:sp>
        <p:nvSpPr>
          <p:cNvPr id="21" name="Texte 300"/>
          <p:cNvSpPr txBox="1"/>
          <p:nvPr/>
        </p:nvSpPr>
        <p:spPr>
          <a:xfrm>
            <a:off x="6153912" y="506708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070"/>
                </a:solidFill>
              </a:rPr>
              <a:t>Retrieval, filtré sur un entretien : chaque passage, ses codes, et </a:t>
            </a:r>
            <a:pPr indent="0" marL="0">
              <a:buNone/>
            </a:pPr>
            <a:r>
              <a:rPr lang="en-US" sz="1200" b="1" i="1" dirty="0">
                <a:solidFill>
                  <a:srgbClr val="5B6070"/>
                </a:solidFill>
              </a:rPr>
              <a:t>Go to passage →</a:t>
            </a:r>
            <a:pPr indent="0" marL="0">
              <a:buNone/>
            </a:pPr>
            <a:r>
              <a:rPr lang="en-US" sz="1200" i="1" dirty="0">
                <a:solidFill>
                  <a:srgbClr val="5B6070"/>
                </a:solidFill>
              </a:rPr>
              <a:t> pour revenir au texte.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de partie 301"/>
          <p:cNvSpPr txBox="1"/>
          <p:nvPr/>
        </p:nvSpPr>
        <p:spPr>
          <a:xfrm>
            <a:off x="822960" y="182880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3291840" y="224028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Analyse thématique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3291840" y="3611880"/>
            <a:ext cx="8138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Des codes aux thèmes, puis à la carte thématique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Les six phases de l’analyse thématique, dans Cadenza</a:t>
            </a:r>
            <a:endParaRPr lang="en-US" sz="3400" dirty="0"/>
          </a:p>
        </p:txBody>
      </p:sp>
      <p:sp>
        <p:nvSpPr>
          <p:cNvPr id="4" name="Bande 302"/>
          <p:cNvSpPr/>
          <p:nvPr/>
        </p:nvSpPr>
        <p:spPr>
          <a:xfrm>
            <a:off x="548640" y="1499616"/>
            <a:ext cx="11094415" cy="694944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 303"/>
          <p:cNvSpPr/>
          <p:nvPr/>
        </p:nvSpPr>
        <p:spPr>
          <a:xfrm>
            <a:off x="685800" y="163677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éro 304"/>
          <p:cNvSpPr txBox="1"/>
          <p:nvPr/>
        </p:nvSpPr>
        <p:spPr>
          <a:xfrm>
            <a:off x="685800" y="1636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e 305"/>
          <p:cNvSpPr txBox="1"/>
          <p:nvPr/>
        </p:nvSpPr>
        <p:spPr>
          <a:xfrm>
            <a:off x="1280160" y="1499616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 familiariser avec les données</a:t>
            </a:r>
            <a:endParaRPr lang="en-US" sz="1600" dirty="0"/>
          </a:p>
        </p:txBody>
      </p:sp>
      <p:pic>
        <p:nvPicPr>
          <p:cNvPr id="8" name="Flèche 30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0832" y="1746504"/>
            <a:ext cx="201168" cy="201168"/>
          </a:xfrm>
          <a:prstGeom prst="rect">
            <a:avLst/>
          </a:prstGeom>
        </p:spPr>
      </p:pic>
      <p:sp>
        <p:nvSpPr>
          <p:cNvPr id="9" name="Texte 307"/>
          <p:cNvSpPr txBox="1"/>
          <p:nvPr/>
        </p:nvSpPr>
        <p:spPr>
          <a:xfrm>
            <a:off x="4754880" y="1499616"/>
            <a:ext cx="67052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Workspace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: lisez chaque entretien en entier. Notez vos premières impressions avec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+ Note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(note sur le document).</a:t>
            </a:r>
            <a:endParaRPr lang="en-US" sz="1400" dirty="0"/>
          </a:p>
        </p:txBody>
      </p:sp>
      <p:sp>
        <p:nvSpPr>
          <p:cNvPr id="10" name="Pastille 308"/>
          <p:cNvSpPr/>
          <p:nvPr/>
        </p:nvSpPr>
        <p:spPr>
          <a:xfrm>
            <a:off x="685800" y="238658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Numéro 309"/>
          <p:cNvSpPr txBox="1"/>
          <p:nvPr/>
        </p:nvSpPr>
        <p:spPr>
          <a:xfrm>
            <a:off x="685800" y="2386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e 310"/>
          <p:cNvSpPr txBox="1"/>
          <p:nvPr/>
        </p:nvSpPr>
        <p:spPr>
          <a:xfrm>
            <a:off x="1280160" y="2249424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Coder</a:t>
            </a:r>
            <a:endParaRPr lang="en-US" sz="1600" dirty="0"/>
          </a:p>
        </p:txBody>
      </p:sp>
      <p:pic>
        <p:nvPicPr>
          <p:cNvPr id="13" name="Flèche 31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2496312"/>
            <a:ext cx="201168" cy="201168"/>
          </a:xfrm>
          <a:prstGeom prst="rect">
            <a:avLst/>
          </a:prstGeom>
        </p:spPr>
      </p:pic>
      <p:sp>
        <p:nvSpPr>
          <p:cNvPr id="14" name="Texte 312"/>
          <p:cNvSpPr txBox="1"/>
          <p:nvPr/>
        </p:nvSpPr>
        <p:spPr>
          <a:xfrm>
            <a:off x="4754880" y="2249424"/>
            <a:ext cx="67052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Surlignez, puis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Add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ou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Apply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 Donnez une définition à chaque code (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Def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).</a:t>
            </a:r>
            <a:endParaRPr lang="en-US" sz="1400" dirty="0"/>
          </a:p>
        </p:txBody>
      </p:sp>
      <p:sp>
        <p:nvSpPr>
          <p:cNvPr id="15" name="Bande 313"/>
          <p:cNvSpPr/>
          <p:nvPr/>
        </p:nvSpPr>
        <p:spPr>
          <a:xfrm>
            <a:off x="548640" y="2999232"/>
            <a:ext cx="11094415" cy="694944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astille 314"/>
          <p:cNvSpPr/>
          <p:nvPr/>
        </p:nvSpPr>
        <p:spPr>
          <a:xfrm>
            <a:off x="685800" y="313639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Numéro 315"/>
          <p:cNvSpPr txBox="1"/>
          <p:nvPr/>
        </p:nvSpPr>
        <p:spPr>
          <a:xfrm>
            <a:off x="685800" y="3136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e 316"/>
          <p:cNvSpPr txBox="1"/>
          <p:nvPr/>
        </p:nvSpPr>
        <p:spPr>
          <a:xfrm>
            <a:off x="1280160" y="2999232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Construire des thèmes</a:t>
            </a:r>
            <a:endParaRPr lang="en-US" sz="1600" dirty="0"/>
          </a:p>
        </p:txBody>
      </p:sp>
      <p:pic>
        <p:nvPicPr>
          <p:cNvPr id="19" name="Flèche 31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3246120"/>
            <a:ext cx="201168" cy="201168"/>
          </a:xfrm>
          <a:prstGeom prst="rect">
            <a:avLst/>
          </a:prstGeom>
        </p:spPr>
      </p:pic>
      <p:sp>
        <p:nvSpPr>
          <p:cNvPr id="20" name="Texte 318"/>
          <p:cNvSpPr txBox="1"/>
          <p:nvPr/>
        </p:nvSpPr>
        <p:spPr>
          <a:xfrm>
            <a:off x="4754880" y="2999232"/>
            <a:ext cx="67052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Board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: rapprochez les codes qui vont ensemble et glissez-les dans des clusters de type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Theme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21" name="Pastille 319"/>
          <p:cNvSpPr/>
          <p:nvPr/>
        </p:nvSpPr>
        <p:spPr>
          <a:xfrm>
            <a:off x="685800" y="388620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uméro 320"/>
          <p:cNvSpPr txBox="1"/>
          <p:nvPr/>
        </p:nvSpPr>
        <p:spPr>
          <a:xfrm>
            <a:off x="685800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e 321"/>
          <p:cNvSpPr txBox="1"/>
          <p:nvPr/>
        </p:nvSpPr>
        <p:spPr>
          <a:xfrm>
            <a:off x="1280160" y="3749040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Réviser les thèmes</a:t>
            </a:r>
            <a:endParaRPr lang="en-US" sz="1600" dirty="0"/>
          </a:p>
        </p:txBody>
      </p:sp>
      <p:pic>
        <p:nvPicPr>
          <p:cNvPr id="24" name="Flèche 32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3995928"/>
            <a:ext cx="201168" cy="201168"/>
          </a:xfrm>
          <a:prstGeom prst="rect">
            <a:avLst/>
          </a:prstGeom>
        </p:spPr>
      </p:pic>
      <p:sp>
        <p:nvSpPr>
          <p:cNvPr id="25" name="Texte 323"/>
          <p:cNvSpPr txBox="1"/>
          <p:nvPr/>
        </p:nvSpPr>
        <p:spPr>
          <a:xfrm>
            <a:off x="4754880" y="3749040"/>
            <a:ext cx="67052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Analysis › Retrieval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: relisez les passages de chaque thème. Déplacez, fusionnez (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Merge into…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) ou scindez.</a:t>
            </a:r>
            <a:endParaRPr lang="en-US" sz="1400" dirty="0"/>
          </a:p>
        </p:txBody>
      </p:sp>
      <p:sp>
        <p:nvSpPr>
          <p:cNvPr id="26" name="Bande 324"/>
          <p:cNvSpPr/>
          <p:nvPr/>
        </p:nvSpPr>
        <p:spPr>
          <a:xfrm>
            <a:off x="548640" y="4498848"/>
            <a:ext cx="11094415" cy="694944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Pastille 325"/>
          <p:cNvSpPr/>
          <p:nvPr/>
        </p:nvSpPr>
        <p:spPr>
          <a:xfrm>
            <a:off x="685800" y="46360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Numéro 326"/>
          <p:cNvSpPr txBox="1"/>
          <p:nvPr/>
        </p:nvSpPr>
        <p:spPr>
          <a:xfrm>
            <a:off x="685800" y="4636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e 327"/>
          <p:cNvSpPr txBox="1"/>
          <p:nvPr/>
        </p:nvSpPr>
        <p:spPr>
          <a:xfrm>
            <a:off x="1280160" y="4498848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Définir et nommer</a:t>
            </a:r>
            <a:endParaRPr lang="en-US" sz="1600" dirty="0"/>
          </a:p>
        </p:txBody>
      </p:sp>
      <p:pic>
        <p:nvPicPr>
          <p:cNvPr id="30" name="Flèche 328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4745736"/>
            <a:ext cx="201168" cy="201168"/>
          </a:xfrm>
          <a:prstGeom prst="rect">
            <a:avLst/>
          </a:prstGeom>
        </p:spPr>
      </p:pic>
      <p:sp>
        <p:nvSpPr>
          <p:cNvPr id="31" name="Texte 329"/>
          <p:cNvSpPr txBox="1"/>
          <p:nvPr/>
        </p:nvSpPr>
        <p:spPr>
          <a:xfrm>
            <a:off x="4754880" y="4498848"/>
            <a:ext cx="67052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Analysis › Clusters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: rédigez la définition de chaque thème.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Link clusters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pour dessiner la carte thématique.</a:t>
            </a:r>
            <a:endParaRPr lang="en-US" sz="1400" dirty="0"/>
          </a:p>
        </p:txBody>
      </p:sp>
      <p:sp>
        <p:nvSpPr>
          <p:cNvPr id="32" name="Pastille 330"/>
          <p:cNvSpPr/>
          <p:nvPr/>
        </p:nvSpPr>
        <p:spPr>
          <a:xfrm>
            <a:off x="685800" y="538581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Numéro 331"/>
          <p:cNvSpPr txBox="1"/>
          <p:nvPr/>
        </p:nvSpPr>
        <p:spPr>
          <a:xfrm>
            <a:off x="685800" y="5385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4" name="Texte 332"/>
          <p:cNvSpPr txBox="1"/>
          <p:nvPr/>
        </p:nvSpPr>
        <p:spPr>
          <a:xfrm>
            <a:off x="1280160" y="5248656"/>
            <a:ext cx="3017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Rédiger</a:t>
            </a:r>
            <a:endParaRPr lang="en-US" sz="1600" dirty="0"/>
          </a:p>
        </p:txBody>
      </p:sp>
      <p:pic>
        <p:nvPicPr>
          <p:cNvPr id="35" name="Flèche 33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0832" y="5495544"/>
            <a:ext cx="201168" cy="201168"/>
          </a:xfrm>
          <a:prstGeom prst="rect">
            <a:avLst/>
          </a:prstGeom>
        </p:spPr>
      </p:pic>
      <p:sp>
        <p:nvSpPr>
          <p:cNvPr id="36" name="Texte 334"/>
          <p:cNvSpPr txBox="1"/>
          <p:nvPr/>
        </p:nvSpPr>
        <p:spPr>
          <a:xfrm>
            <a:off x="4754880" y="5248656"/>
            <a:ext cx="670529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Export › Results draft › By theme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: un plan de résultats avec citations.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Export as PDF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pour la carte.</a:t>
            </a:r>
            <a:endParaRPr lang="en-US" sz="1400" dirty="0"/>
          </a:p>
        </p:txBody>
      </p:sp>
      <p:sp>
        <p:nvSpPr>
          <p:cNvPr id="37" name="Texte 335"/>
          <p:cNvSpPr txBox="1"/>
          <p:nvPr/>
        </p:nvSpPr>
        <p:spPr>
          <a:xfrm>
            <a:off x="548640" y="6035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070"/>
                </a:solidFill>
              </a:rPr>
              <a:t>Phases d’après Braun et Clarke (2006, 2021).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Du code au thème : trois repères</a:t>
            </a:r>
            <a:endParaRPr lang="en-US" sz="3400" dirty="0"/>
          </a:p>
        </p:txBody>
      </p:sp>
      <p:sp>
        <p:nvSpPr>
          <p:cNvPr id="4" name="Cadre 336"/>
          <p:cNvSpPr/>
          <p:nvPr/>
        </p:nvSpPr>
        <p:spPr>
          <a:xfrm>
            <a:off x="548640" y="1508760"/>
            <a:ext cx="5760720" cy="3621024"/>
          </a:xfrm>
          <a:prstGeom prst="rect">
            <a:avLst/>
          </a:prstGeom>
          <a:solidFill>
            <a:schemeClr val="bg1"/>
          </a:solidFill>
          <a:ln w="9525">
            <a:solidFill>
              <a:srgbClr val="D9D3E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Capture 337" descr="Le tableau entier : la carte des thèmes du projet d’exemp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4480"/>
            <a:ext cx="5669280" cy="3529584"/>
          </a:xfrm>
          <a:prstGeom prst="rect">
            <a:avLst/>
          </a:prstGeom>
        </p:spPr>
      </p:pic>
      <p:sp>
        <p:nvSpPr>
          <p:cNvPr id="6" name="Texte 338"/>
          <p:cNvSpPr txBox="1"/>
          <p:nvPr/>
        </p:nvSpPr>
        <p:spPr>
          <a:xfrm>
            <a:off x="548640" y="523951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070"/>
                </a:solidFill>
              </a:rPr>
              <a:t>Vue d’ensemble du tableau : la carte des thèmes du projet d’exemple.</a:t>
            </a:r>
            <a:endParaRPr lang="en-US" sz="1200" dirty="0"/>
          </a:p>
        </p:txBody>
      </p:sp>
      <p:sp>
        <p:nvSpPr>
          <p:cNvPr id="7" name="Pastille 339"/>
          <p:cNvSpPr/>
          <p:nvPr/>
        </p:nvSpPr>
        <p:spPr>
          <a:xfrm>
            <a:off x="6675120" y="150876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ône 34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747" y="1632387"/>
            <a:ext cx="228234" cy="228234"/>
          </a:xfrm>
          <a:prstGeom prst="rect">
            <a:avLst/>
          </a:prstGeom>
        </p:spPr>
      </p:pic>
      <p:sp>
        <p:nvSpPr>
          <p:cNvPr id="9" name="Texte 341"/>
          <p:cNvSpPr txBox="1"/>
          <p:nvPr/>
        </p:nvSpPr>
        <p:spPr>
          <a:xfrm>
            <a:off x="7333488" y="1508760"/>
            <a:ext cx="4306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Codez d’abord, regroupez ensuite</a:t>
            </a:r>
            <a:endParaRPr lang="en-US" sz="1600" dirty="0"/>
          </a:p>
        </p:txBody>
      </p:sp>
      <p:sp>
        <p:nvSpPr>
          <p:cNvPr id="10" name="Texte 342"/>
          <p:cNvSpPr txBox="1"/>
          <p:nvPr/>
        </p:nvSpPr>
        <p:spPr>
          <a:xfrm>
            <a:off x="7333488" y="1874520"/>
            <a:ext cx="43068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Les thèmes se construisent à partir des codes ; inutile de les chercher en codant.</a:t>
            </a:r>
            <a:endParaRPr lang="en-US" sz="1400" dirty="0"/>
          </a:p>
        </p:txBody>
      </p:sp>
      <p:sp>
        <p:nvSpPr>
          <p:cNvPr id="11" name="Pastille 343"/>
          <p:cNvSpPr/>
          <p:nvPr/>
        </p:nvSpPr>
        <p:spPr>
          <a:xfrm>
            <a:off x="6675120" y="2770632"/>
            <a:ext cx="475488" cy="47548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ône 34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747" y="2894259"/>
            <a:ext cx="228234" cy="228234"/>
          </a:xfrm>
          <a:prstGeom prst="rect">
            <a:avLst/>
          </a:prstGeom>
        </p:spPr>
      </p:pic>
      <p:sp>
        <p:nvSpPr>
          <p:cNvPr id="13" name="Texte 345"/>
          <p:cNvSpPr txBox="1"/>
          <p:nvPr/>
        </p:nvSpPr>
        <p:spPr>
          <a:xfrm>
            <a:off x="7333488" y="2770632"/>
            <a:ext cx="4306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Un thème n’est pas un sujet</a:t>
            </a:r>
            <a:endParaRPr lang="en-US" sz="1600" dirty="0"/>
          </a:p>
        </p:txBody>
      </p:sp>
      <p:sp>
        <p:nvSpPr>
          <p:cNvPr id="14" name="Texte 346"/>
          <p:cNvSpPr txBox="1"/>
          <p:nvPr/>
        </p:nvSpPr>
        <p:spPr>
          <a:xfrm>
            <a:off x="7333488" y="3136392"/>
            <a:ext cx="43068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« La charge de travail » est un sujet. « Tenir grâce au collectif » est un thème : il dit quelque chose.</a:t>
            </a:r>
            <a:endParaRPr lang="en-US" sz="1400" dirty="0"/>
          </a:p>
        </p:txBody>
      </p:sp>
      <p:sp>
        <p:nvSpPr>
          <p:cNvPr id="15" name="Pastille 347"/>
          <p:cNvSpPr/>
          <p:nvPr/>
        </p:nvSpPr>
        <p:spPr>
          <a:xfrm>
            <a:off x="6675120" y="4032504"/>
            <a:ext cx="475488" cy="47548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cône 34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747" y="4156131"/>
            <a:ext cx="228234" cy="228234"/>
          </a:xfrm>
          <a:prstGeom prst="rect">
            <a:avLst/>
          </a:prstGeom>
        </p:spPr>
      </p:pic>
      <p:sp>
        <p:nvSpPr>
          <p:cNvPr id="17" name="Texte 349"/>
          <p:cNvSpPr txBox="1"/>
          <p:nvPr/>
        </p:nvSpPr>
        <p:spPr>
          <a:xfrm>
            <a:off x="7333488" y="4032504"/>
            <a:ext cx="4306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Revenez toujours aux passages</a:t>
            </a:r>
            <a:endParaRPr lang="en-US" sz="1600" dirty="0"/>
          </a:p>
        </p:txBody>
      </p:sp>
      <p:sp>
        <p:nvSpPr>
          <p:cNvPr id="18" name="Texte 350"/>
          <p:cNvSpPr txBox="1"/>
          <p:nvPr/>
        </p:nvSpPr>
        <p:spPr>
          <a:xfrm>
            <a:off x="7333488" y="4398264"/>
            <a:ext cx="43068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Avant de garder un thème, relisez ses extraits : disent-ils bien la même chose ?</a:t>
            </a:r>
            <a:endParaRPr lang="en-US" sz="1400" dirty="0"/>
          </a:p>
        </p:txBody>
      </p:sp>
      <p:sp>
        <p:nvSpPr>
          <p:cNvPr id="19" name="Carte 351"/>
          <p:cNvSpPr/>
          <p:nvPr/>
        </p:nvSpPr>
        <p:spPr>
          <a:xfrm>
            <a:off x="6675120" y="5349240"/>
            <a:ext cx="4965192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 352"/>
          <p:cNvSpPr/>
          <p:nvPr/>
        </p:nvSpPr>
        <p:spPr>
          <a:xfrm>
            <a:off x="6858000" y="5536692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cône 35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2607" y="5641299"/>
            <a:ext cx="193121" cy="193121"/>
          </a:xfrm>
          <a:prstGeom prst="rect">
            <a:avLst/>
          </a:prstGeom>
        </p:spPr>
      </p:pic>
      <p:sp>
        <p:nvSpPr>
          <p:cNvPr id="22" name="Texte 354"/>
          <p:cNvSpPr txBox="1"/>
          <p:nvPr/>
        </p:nvSpPr>
        <p:spPr>
          <a:xfrm>
            <a:off x="7424928" y="5349240"/>
            <a:ext cx="4050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Tenez un journal :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+ Note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sur le projet, pour garder la trace de vos choix.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de partie 355"/>
          <p:cNvSpPr txBox="1"/>
          <p:nvPr/>
        </p:nvSpPr>
        <p:spPr>
          <a:xfrm>
            <a:off x="822960" y="182880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3291840" y="224028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IPA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3291840" y="3611880"/>
            <a:ext cx="8138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L’analyse phénoménologique interprétative, un cas après l’autre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L’IPA pas à pas, dans Cadenza</a:t>
            </a:r>
            <a:endParaRPr lang="en-US" sz="3400" dirty="0"/>
          </a:p>
        </p:txBody>
      </p:sp>
      <p:sp>
        <p:nvSpPr>
          <p:cNvPr id="4" name="Bande 356"/>
          <p:cNvSpPr/>
          <p:nvPr/>
        </p:nvSpPr>
        <p:spPr>
          <a:xfrm>
            <a:off x="548640" y="1499616"/>
            <a:ext cx="11094415" cy="694944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 357"/>
          <p:cNvSpPr/>
          <p:nvPr/>
        </p:nvSpPr>
        <p:spPr>
          <a:xfrm>
            <a:off x="685800" y="1636776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Numéro 358"/>
          <p:cNvSpPr txBox="1"/>
          <p:nvPr/>
        </p:nvSpPr>
        <p:spPr>
          <a:xfrm>
            <a:off x="685800" y="1636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e 359"/>
          <p:cNvSpPr txBox="1"/>
          <p:nvPr/>
        </p:nvSpPr>
        <p:spPr>
          <a:xfrm>
            <a:off x="1280160" y="1499616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Lire et relire un entretien</a:t>
            </a:r>
            <a:endParaRPr lang="en-US" sz="1600" dirty="0"/>
          </a:p>
        </p:txBody>
      </p:sp>
      <p:pic>
        <p:nvPicPr>
          <p:cNvPr id="8" name="Flèche 36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6512" y="1746504"/>
            <a:ext cx="201168" cy="201168"/>
          </a:xfrm>
          <a:prstGeom prst="rect">
            <a:avLst/>
          </a:prstGeom>
        </p:spPr>
      </p:pic>
      <p:sp>
        <p:nvSpPr>
          <p:cNvPr id="9" name="Texte 361"/>
          <p:cNvSpPr txBox="1"/>
          <p:nvPr/>
        </p:nvSpPr>
        <p:spPr>
          <a:xfrm>
            <a:off x="4480560" y="1499616"/>
            <a:ext cx="69796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Workspace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: un seul cas à la fois. Restez sur lui jusqu’à l’étape 4.</a:t>
            </a:r>
            <a:endParaRPr lang="en-US" sz="1400" dirty="0"/>
          </a:p>
        </p:txBody>
      </p:sp>
      <p:sp>
        <p:nvSpPr>
          <p:cNvPr id="10" name="Pastille 362"/>
          <p:cNvSpPr/>
          <p:nvPr/>
        </p:nvSpPr>
        <p:spPr>
          <a:xfrm>
            <a:off x="685800" y="2386584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uméro 363"/>
          <p:cNvSpPr txBox="1"/>
          <p:nvPr/>
        </p:nvSpPr>
        <p:spPr>
          <a:xfrm>
            <a:off x="685800" y="2386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e 364"/>
          <p:cNvSpPr txBox="1"/>
          <p:nvPr/>
        </p:nvSpPr>
        <p:spPr>
          <a:xfrm>
            <a:off x="1280160" y="2249424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Notes exploratoires</a:t>
            </a:r>
            <a:endParaRPr lang="en-US" sz="1600" dirty="0"/>
          </a:p>
        </p:txBody>
      </p:sp>
      <p:pic>
        <p:nvPicPr>
          <p:cNvPr id="13" name="Flèche 36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12" y="2496312"/>
            <a:ext cx="201168" cy="201168"/>
          </a:xfrm>
          <a:prstGeom prst="rect">
            <a:avLst/>
          </a:prstGeom>
        </p:spPr>
      </p:pic>
      <p:sp>
        <p:nvSpPr>
          <p:cNvPr id="14" name="Texte 366"/>
          <p:cNvSpPr txBox="1"/>
          <p:nvPr/>
        </p:nvSpPr>
        <p:spPr>
          <a:xfrm>
            <a:off x="4480560" y="2249424"/>
            <a:ext cx="69796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Onglet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Notes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: créez trois types dans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Categories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(descriptive, linguistique, conceptuelle) et annotez passage par passage.</a:t>
            </a:r>
            <a:endParaRPr lang="en-US" sz="1400" dirty="0"/>
          </a:p>
        </p:txBody>
      </p:sp>
      <p:sp>
        <p:nvSpPr>
          <p:cNvPr id="15" name="Bande 367"/>
          <p:cNvSpPr/>
          <p:nvPr/>
        </p:nvSpPr>
        <p:spPr>
          <a:xfrm>
            <a:off x="548640" y="2999232"/>
            <a:ext cx="11094415" cy="694944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astille 368"/>
          <p:cNvSpPr/>
          <p:nvPr/>
        </p:nvSpPr>
        <p:spPr>
          <a:xfrm>
            <a:off x="685800" y="3136392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Numéro 369"/>
          <p:cNvSpPr txBox="1"/>
          <p:nvPr/>
        </p:nvSpPr>
        <p:spPr>
          <a:xfrm>
            <a:off x="685800" y="3136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e 370"/>
          <p:cNvSpPr txBox="1"/>
          <p:nvPr/>
        </p:nvSpPr>
        <p:spPr>
          <a:xfrm>
            <a:off x="1280160" y="2999232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Énoncés expérientiels</a:t>
            </a:r>
            <a:endParaRPr lang="en-US" sz="1600" dirty="0"/>
          </a:p>
        </p:txBody>
      </p:sp>
      <p:pic>
        <p:nvPicPr>
          <p:cNvPr id="19" name="Flèche 37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3246120"/>
            <a:ext cx="201168" cy="201168"/>
          </a:xfrm>
          <a:prstGeom prst="rect">
            <a:avLst/>
          </a:prstGeom>
        </p:spPr>
      </p:pic>
      <p:sp>
        <p:nvSpPr>
          <p:cNvPr id="20" name="Texte 372"/>
          <p:cNvSpPr txBox="1"/>
          <p:nvPr/>
        </p:nvSpPr>
        <p:spPr>
          <a:xfrm>
            <a:off x="4480560" y="2999232"/>
            <a:ext cx="69796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Transformez vos notes en codes courts et parlants :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Promote to code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sur une note, ou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Add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21" name="Pastille 373"/>
          <p:cNvSpPr/>
          <p:nvPr/>
        </p:nvSpPr>
        <p:spPr>
          <a:xfrm>
            <a:off x="685800" y="3886200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Numéro 374"/>
          <p:cNvSpPr txBox="1"/>
          <p:nvPr/>
        </p:nvSpPr>
        <p:spPr>
          <a:xfrm>
            <a:off x="685800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e 375"/>
          <p:cNvSpPr txBox="1"/>
          <p:nvPr/>
        </p:nvSpPr>
        <p:spPr>
          <a:xfrm>
            <a:off x="1280160" y="3749040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Thèmes personnels (PET)</a:t>
            </a:r>
            <a:endParaRPr lang="en-US" sz="1600" dirty="0"/>
          </a:p>
        </p:txBody>
      </p:sp>
      <p:pic>
        <p:nvPicPr>
          <p:cNvPr id="24" name="Flèche 37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512" y="3995928"/>
            <a:ext cx="201168" cy="201168"/>
          </a:xfrm>
          <a:prstGeom prst="rect">
            <a:avLst/>
          </a:prstGeom>
        </p:spPr>
      </p:pic>
      <p:sp>
        <p:nvSpPr>
          <p:cNvPr id="25" name="Texte 377"/>
          <p:cNvSpPr txBox="1"/>
          <p:nvPr/>
        </p:nvSpPr>
        <p:spPr>
          <a:xfrm>
            <a:off x="4480560" y="3749040"/>
            <a:ext cx="69796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Regroupez les énoncés du cas en clusters, sous un cluster au nom du cas.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Open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l’affiche sur son propre tableau.</a:t>
            </a:r>
            <a:endParaRPr lang="en-US" sz="1400" dirty="0"/>
          </a:p>
        </p:txBody>
      </p:sp>
      <p:sp>
        <p:nvSpPr>
          <p:cNvPr id="26" name="Bande 378"/>
          <p:cNvSpPr/>
          <p:nvPr/>
        </p:nvSpPr>
        <p:spPr>
          <a:xfrm>
            <a:off x="548640" y="4498848"/>
            <a:ext cx="11094415" cy="694944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Pastille 379"/>
          <p:cNvSpPr/>
          <p:nvPr/>
        </p:nvSpPr>
        <p:spPr>
          <a:xfrm>
            <a:off x="685800" y="463600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Numéro 380"/>
          <p:cNvSpPr txBox="1"/>
          <p:nvPr/>
        </p:nvSpPr>
        <p:spPr>
          <a:xfrm>
            <a:off x="685800" y="4636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e 381"/>
          <p:cNvSpPr txBox="1"/>
          <p:nvPr/>
        </p:nvSpPr>
        <p:spPr>
          <a:xfrm>
            <a:off x="1280160" y="4498848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Cas suivant</a:t>
            </a:r>
            <a:endParaRPr lang="en-US" sz="1600" dirty="0"/>
          </a:p>
        </p:txBody>
      </p:sp>
      <p:pic>
        <p:nvPicPr>
          <p:cNvPr id="30" name="Flèche 38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6512" y="4745736"/>
            <a:ext cx="201168" cy="201168"/>
          </a:xfrm>
          <a:prstGeom prst="rect">
            <a:avLst/>
          </a:prstGeom>
        </p:spPr>
      </p:pic>
      <p:sp>
        <p:nvSpPr>
          <p:cNvPr id="31" name="Texte 383"/>
          <p:cNvSpPr txBox="1"/>
          <p:nvPr/>
        </p:nvSpPr>
        <p:spPr>
          <a:xfrm>
            <a:off x="4480560" y="4498848"/>
            <a:ext cx="69796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Reprenez les étapes 1 à 4 pour chaque entretien, en mettant de côté ce que vous avez trouvé avant.</a:t>
            </a:r>
            <a:endParaRPr lang="en-US" sz="1400" dirty="0"/>
          </a:p>
        </p:txBody>
      </p:sp>
      <p:sp>
        <p:nvSpPr>
          <p:cNvPr id="32" name="Pastille 384"/>
          <p:cNvSpPr/>
          <p:nvPr/>
        </p:nvSpPr>
        <p:spPr>
          <a:xfrm>
            <a:off x="685800" y="5385816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3" name="Numéro 385"/>
          <p:cNvSpPr txBox="1"/>
          <p:nvPr/>
        </p:nvSpPr>
        <p:spPr>
          <a:xfrm>
            <a:off x="685800" y="5385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4" name="Texte 386"/>
          <p:cNvSpPr txBox="1"/>
          <p:nvPr/>
        </p:nvSpPr>
        <p:spPr>
          <a:xfrm>
            <a:off x="1280160" y="5248656"/>
            <a:ext cx="2743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Thèmes de groupe (GET)</a:t>
            </a:r>
            <a:endParaRPr lang="en-US" sz="1600" dirty="0"/>
          </a:p>
        </p:txBody>
      </p:sp>
      <p:pic>
        <p:nvPicPr>
          <p:cNvPr id="35" name="Flèche 387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6512" y="5495544"/>
            <a:ext cx="201168" cy="201168"/>
          </a:xfrm>
          <a:prstGeom prst="rect">
            <a:avLst/>
          </a:prstGeom>
        </p:spPr>
      </p:pic>
      <p:sp>
        <p:nvSpPr>
          <p:cNvPr id="36" name="Texte 388"/>
          <p:cNvSpPr txBox="1"/>
          <p:nvPr/>
        </p:nvSpPr>
        <p:spPr>
          <a:xfrm>
            <a:off x="4480560" y="5248656"/>
            <a:ext cx="69796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Créez des clusters au-dessus des PET.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 cases › Themes × cases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montre chaque thème, cas par cas.</a:t>
            </a:r>
            <a:endParaRPr lang="en-US" sz="1400" dirty="0"/>
          </a:p>
        </p:txBody>
      </p:sp>
      <p:sp>
        <p:nvSpPr>
          <p:cNvPr id="37" name="Texte 389"/>
          <p:cNvSpPr txBox="1"/>
          <p:nvPr/>
        </p:nvSpPr>
        <p:spPr>
          <a:xfrm>
            <a:off x="548640" y="6035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070"/>
                </a:solidFill>
              </a:rPr>
              <a:t>Étapes d’après Smith, Flowers et Larkin (2009, 2022).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IPA : deux écrans utiles</a:t>
            </a:r>
            <a:endParaRPr lang="en-US" sz="3400" dirty="0"/>
          </a:p>
        </p:txBody>
      </p:sp>
      <p:sp>
        <p:nvSpPr>
          <p:cNvPr id="4" name="Cadre 390"/>
          <p:cNvSpPr/>
          <p:nvPr/>
        </p:nvSpPr>
        <p:spPr>
          <a:xfrm>
            <a:off x="548640" y="1508760"/>
            <a:ext cx="5364328" cy="3371863"/>
          </a:xfrm>
          <a:prstGeom prst="rect">
            <a:avLst/>
          </a:prstGeom>
          <a:solidFill>
            <a:schemeClr val="bg1"/>
          </a:solidFill>
          <a:ln w="9525">
            <a:solidFill>
              <a:srgbClr val="D9D3E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Capture 391" descr="Des notes exploratoires typées, attachées aux passa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4480"/>
            <a:ext cx="5272888" cy="3280423"/>
          </a:xfrm>
          <a:prstGeom prst="rect">
            <a:avLst/>
          </a:prstGeom>
        </p:spPr>
      </p:pic>
      <p:sp>
        <p:nvSpPr>
          <p:cNvPr id="6" name="Texte 392"/>
          <p:cNvSpPr txBox="1"/>
          <p:nvPr/>
        </p:nvSpPr>
        <p:spPr>
          <a:xfrm>
            <a:off x="548640" y="4990351"/>
            <a:ext cx="536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070"/>
                </a:solidFill>
              </a:rPr>
              <a:t>Onglet Notes : des notes exploratoires typées (ici « Note Descriptive »), attachées à leur passage.</a:t>
            </a:r>
            <a:endParaRPr lang="en-US" sz="1200" dirty="0"/>
          </a:p>
        </p:txBody>
      </p:sp>
      <p:sp>
        <p:nvSpPr>
          <p:cNvPr id="7" name="Cadre 393"/>
          <p:cNvSpPr/>
          <p:nvPr/>
        </p:nvSpPr>
        <p:spPr>
          <a:xfrm>
            <a:off x="6278728" y="1508760"/>
            <a:ext cx="5364328" cy="3371863"/>
          </a:xfrm>
          <a:prstGeom prst="rect">
            <a:avLst/>
          </a:prstGeom>
          <a:solidFill>
            <a:schemeClr val="bg1"/>
          </a:solidFill>
          <a:ln w="9525">
            <a:solidFill>
              <a:srgbClr val="D9D3E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Capture 394" descr="Le tableau thèmes × c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554480"/>
            <a:ext cx="5272888" cy="3280423"/>
          </a:xfrm>
          <a:prstGeom prst="rect">
            <a:avLst/>
          </a:prstGeom>
        </p:spPr>
      </p:pic>
      <p:sp>
        <p:nvSpPr>
          <p:cNvPr id="9" name="Texte 395"/>
          <p:cNvSpPr txBox="1"/>
          <p:nvPr/>
        </p:nvSpPr>
        <p:spPr>
          <a:xfrm>
            <a:off x="6278728" y="4990351"/>
            <a:ext cx="536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5B6070"/>
                </a:solidFill>
              </a:rPr>
              <a:t>Compare cases › Themes × cases</a:t>
            </a:r>
            <a:pPr indent="0" marL="0">
              <a:buNone/>
            </a:pPr>
            <a:r>
              <a:rPr lang="en-US" sz="1200" i="1" dirty="0">
                <a:solidFill>
                  <a:srgbClr val="5B6070"/>
                </a:solidFill>
              </a:rPr>
              <a:t> : chaque code ou thème, entretien par entretien.</a:t>
            </a:r>
            <a:endParaRPr lang="en-US" sz="1200" dirty="0"/>
          </a:p>
        </p:txBody>
      </p:sp>
      <p:sp>
        <p:nvSpPr>
          <p:cNvPr id="10" name="Carte 396"/>
          <p:cNvSpPr/>
          <p:nvPr/>
        </p:nvSpPr>
        <p:spPr>
          <a:xfrm>
            <a:off x="548640" y="5532120"/>
            <a:ext cx="11094415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astille 397"/>
          <p:cNvSpPr/>
          <p:nvPr/>
        </p:nvSpPr>
        <p:spPr>
          <a:xfrm>
            <a:off x="731520" y="5673852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39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27" y="5778459"/>
            <a:ext cx="193121" cy="193121"/>
          </a:xfrm>
          <a:prstGeom prst="rect">
            <a:avLst/>
          </a:prstGeom>
        </p:spPr>
      </p:pic>
      <p:sp>
        <p:nvSpPr>
          <p:cNvPr id="13" name="Texte 399"/>
          <p:cNvSpPr txBox="1"/>
          <p:nvPr/>
        </p:nvSpPr>
        <p:spPr>
          <a:xfrm>
            <a:off x="1298448" y="553212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Dans l’onglet Notes, le filtre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This doc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n’affiche que les notes du cas en cours : pratique pour rester sur un seul entretien.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de partie 400"/>
          <p:cNvSpPr txBox="1"/>
          <p:nvPr/>
        </p:nvSpPr>
        <p:spPr>
          <a:xfrm>
            <a:off x="822960" y="182880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3291840" y="224028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AQA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3291840" y="3611880"/>
            <a:ext cx="8138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L’analyse par questionnement analytique : interroger le corpus plutôt que l’étiqueter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L’AQA dans Cadenza : des questions, puis des réponses</a:t>
            </a:r>
            <a:endParaRPr lang="en-US" sz="3400" dirty="0"/>
          </a:p>
        </p:txBody>
      </p:sp>
      <p:sp>
        <p:nvSpPr>
          <p:cNvPr id="4" name="Texte 401"/>
          <p:cNvSpPr txBox="1"/>
          <p:nvPr/>
        </p:nvSpPr>
        <p:spPr>
          <a:xfrm>
            <a:off x="548640" y="1463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 ne part pas de codes. On pose au corpus des questions précises, on y répond en s’appuyant sur les extraits, et l’on affine les questions à mesure que l’on avance (Paillé et Mucchielli).</a:t>
            </a:r>
            <a:endParaRPr lang="en-US" sz="1600" dirty="0"/>
          </a:p>
        </p:txBody>
      </p:sp>
      <p:sp>
        <p:nvSpPr>
          <p:cNvPr id="5" name="Bande 402"/>
          <p:cNvSpPr/>
          <p:nvPr/>
        </p:nvSpPr>
        <p:spPr>
          <a:xfrm>
            <a:off x="548640" y="2414016"/>
            <a:ext cx="11094415" cy="813816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astille 403"/>
          <p:cNvSpPr/>
          <p:nvPr/>
        </p:nvSpPr>
        <p:spPr>
          <a:xfrm>
            <a:off x="685800" y="2610612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Numéro 404"/>
          <p:cNvSpPr txBox="1"/>
          <p:nvPr/>
        </p:nvSpPr>
        <p:spPr>
          <a:xfrm>
            <a:off x="685800" y="26106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e 405"/>
          <p:cNvSpPr txBox="1"/>
          <p:nvPr/>
        </p:nvSpPr>
        <p:spPr>
          <a:xfrm>
            <a:off x="1280160" y="2414016"/>
            <a:ext cx="27432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 canevas de questions</a:t>
            </a:r>
            <a:endParaRPr lang="en-US" sz="1600" dirty="0"/>
          </a:p>
        </p:txBody>
      </p:sp>
      <p:pic>
        <p:nvPicPr>
          <p:cNvPr id="9" name="Flèche 40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6512" y="2720340"/>
            <a:ext cx="201168" cy="201168"/>
          </a:xfrm>
          <a:prstGeom prst="rect">
            <a:avLst/>
          </a:prstGeom>
        </p:spPr>
      </p:pic>
      <p:sp>
        <p:nvSpPr>
          <p:cNvPr id="10" name="Texte 407"/>
          <p:cNvSpPr txBox="1"/>
          <p:nvPr/>
        </p:nvSpPr>
        <p:spPr>
          <a:xfrm>
            <a:off x="4480560" y="2414016"/>
            <a:ext cx="697961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+ Cluster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, type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Question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(onglet Notes ou Analysis › Clusters) : un cluster par question. Imbriquez les sous-questions.</a:t>
            </a:r>
            <a:endParaRPr lang="en-US" sz="1400" dirty="0"/>
          </a:p>
        </p:txBody>
      </p:sp>
      <p:sp>
        <p:nvSpPr>
          <p:cNvPr id="11" name="Pastille 408"/>
          <p:cNvSpPr/>
          <p:nvPr/>
        </p:nvSpPr>
        <p:spPr>
          <a:xfrm>
            <a:off x="685800" y="3479292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Numéro 409"/>
          <p:cNvSpPr txBox="1"/>
          <p:nvPr/>
        </p:nvSpPr>
        <p:spPr>
          <a:xfrm>
            <a:off x="685800" y="34792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e 410"/>
          <p:cNvSpPr txBox="1"/>
          <p:nvPr/>
        </p:nvSpPr>
        <p:spPr>
          <a:xfrm>
            <a:off x="1280160" y="3282696"/>
            <a:ext cx="27432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Interroger le corpus</a:t>
            </a:r>
            <a:endParaRPr lang="en-US" sz="1600" dirty="0"/>
          </a:p>
        </p:txBody>
      </p:sp>
      <p:pic>
        <p:nvPicPr>
          <p:cNvPr id="14" name="Flèche 41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12" y="3589020"/>
            <a:ext cx="201168" cy="201168"/>
          </a:xfrm>
          <a:prstGeom prst="rect">
            <a:avLst/>
          </a:prstGeom>
        </p:spPr>
      </p:pic>
      <p:sp>
        <p:nvSpPr>
          <p:cNvPr id="15" name="Texte 412"/>
          <p:cNvSpPr txBox="1"/>
          <p:nvPr/>
        </p:nvSpPr>
        <p:spPr>
          <a:xfrm>
            <a:off x="4480560" y="3282696"/>
            <a:ext cx="697961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Surlignez un passage, onglet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Notes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: écrivez la question, puis votre réponse.</a:t>
            </a:r>
            <a:endParaRPr lang="en-US" sz="1400" dirty="0"/>
          </a:p>
        </p:txBody>
      </p:sp>
      <p:sp>
        <p:nvSpPr>
          <p:cNvPr id="16" name="Bande 413"/>
          <p:cNvSpPr/>
          <p:nvPr/>
        </p:nvSpPr>
        <p:spPr>
          <a:xfrm>
            <a:off x="548640" y="4151376"/>
            <a:ext cx="11094415" cy="813816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 414"/>
          <p:cNvSpPr/>
          <p:nvPr/>
        </p:nvSpPr>
        <p:spPr>
          <a:xfrm>
            <a:off x="685800" y="4347972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Numéro 415"/>
          <p:cNvSpPr txBox="1"/>
          <p:nvPr/>
        </p:nvSpPr>
        <p:spPr>
          <a:xfrm>
            <a:off x="685800" y="43479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e 416"/>
          <p:cNvSpPr txBox="1"/>
          <p:nvPr/>
        </p:nvSpPr>
        <p:spPr>
          <a:xfrm>
            <a:off x="1280160" y="4151376"/>
            <a:ext cx="27432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Ranger les réponses</a:t>
            </a:r>
            <a:endParaRPr lang="en-US" sz="1600" dirty="0"/>
          </a:p>
        </p:txBody>
      </p:sp>
      <p:pic>
        <p:nvPicPr>
          <p:cNvPr id="20" name="Flèche 41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4457700"/>
            <a:ext cx="201168" cy="201168"/>
          </a:xfrm>
          <a:prstGeom prst="rect">
            <a:avLst/>
          </a:prstGeom>
        </p:spPr>
      </p:pic>
      <p:sp>
        <p:nvSpPr>
          <p:cNvPr id="21" name="Texte 418"/>
          <p:cNvSpPr txBox="1"/>
          <p:nvPr/>
        </p:nvSpPr>
        <p:spPr>
          <a:xfrm>
            <a:off x="4480560" y="4151376"/>
            <a:ext cx="697961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Glissez la note dans son cluster-question, ou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Promote to question-cluster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pour créer la question à partir de la note.</a:t>
            </a:r>
            <a:endParaRPr lang="en-US" sz="1400" dirty="0"/>
          </a:p>
        </p:txBody>
      </p:sp>
      <p:sp>
        <p:nvSpPr>
          <p:cNvPr id="22" name="Pastille 419"/>
          <p:cNvSpPr/>
          <p:nvPr/>
        </p:nvSpPr>
        <p:spPr>
          <a:xfrm>
            <a:off x="685800" y="5216652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Numéro 420"/>
          <p:cNvSpPr txBox="1"/>
          <p:nvPr/>
        </p:nvSpPr>
        <p:spPr>
          <a:xfrm>
            <a:off x="685800" y="52166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e 421"/>
          <p:cNvSpPr txBox="1"/>
          <p:nvPr/>
        </p:nvSpPr>
        <p:spPr>
          <a:xfrm>
            <a:off x="1280160" y="5020056"/>
            <a:ext cx="27432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Rédiger</a:t>
            </a:r>
            <a:endParaRPr lang="en-US" sz="1600" dirty="0"/>
          </a:p>
        </p:txBody>
      </p:sp>
      <p:pic>
        <p:nvPicPr>
          <p:cNvPr id="25" name="Flèche 42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512" y="5326380"/>
            <a:ext cx="201168" cy="201168"/>
          </a:xfrm>
          <a:prstGeom prst="rect">
            <a:avLst/>
          </a:prstGeom>
        </p:spPr>
      </p:pic>
      <p:sp>
        <p:nvSpPr>
          <p:cNvPr id="26" name="Texte 423"/>
          <p:cNvSpPr txBox="1"/>
          <p:nvPr/>
        </p:nvSpPr>
        <p:spPr>
          <a:xfrm>
            <a:off x="4480560" y="5020056"/>
            <a:ext cx="6979615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Export › Results draft › By question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: une section par question, les réponses dans l’ordre où vous les avez écrites.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AQA : questions et réponses à l’écran</a:t>
            </a:r>
            <a:endParaRPr lang="en-US" sz="3400" dirty="0"/>
          </a:p>
        </p:txBody>
      </p:sp>
      <p:sp>
        <p:nvSpPr>
          <p:cNvPr id="4" name="Cadre 424"/>
          <p:cNvSpPr/>
          <p:nvPr/>
        </p:nvSpPr>
        <p:spPr>
          <a:xfrm>
            <a:off x="548640" y="1508760"/>
            <a:ext cx="6035040" cy="3793454"/>
          </a:xfrm>
          <a:prstGeom prst="rect">
            <a:avLst/>
          </a:prstGeom>
          <a:solidFill>
            <a:schemeClr val="bg1"/>
          </a:solidFill>
          <a:ln w="9525">
            <a:solidFill>
              <a:srgbClr val="D9D3E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Capture 425" descr="Analysis › Clusters : une question analytique, ses codes et ses répons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54480"/>
            <a:ext cx="5943600" cy="3702014"/>
          </a:xfrm>
          <a:prstGeom prst="rect">
            <a:avLst/>
          </a:prstGeom>
        </p:spPr>
      </p:pic>
      <p:sp>
        <p:nvSpPr>
          <p:cNvPr id="6" name="Texte 426"/>
          <p:cNvSpPr txBox="1"/>
          <p:nvPr/>
        </p:nvSpPr>
        <p:spPr>
          <a:xfrm>
            <a:off x="548640" y="541194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5B6070"/>
                </a:solidFill>
              </a:rPr>
              <a:t>Analysis › Clusters</a:t>
            </a:r>
            <a:pPr indent="0" marL="0">
              <a:buNone/>
            </a:pPr>
            <a:r>
              <a:rPr lang="en-US" sz="1200" i="1" dirty="0">
                <a:solidFill>
                  <a:srgbClr val="5B6070"/>
                </a:solidFill>
              </a:rPr>
              <a:t> : chaque question, sa définition, ses codes et ses réponses.</a:t>
            </a:r>
            <a:endParaRPr lang="en-US" sz="1200" dirty="0"/>
          </a:p>
        </p:txBody>
      </p:sp>
      <p:sp>
        <p:nvSpPr>
          <p:cNvPr id="7" name="Cadre 427"/>
          <p:cNvSpPr/>
          <p:nvPr/>
        </p:nvSpPr>
        <p:spPr>
          <a:xfrm>
            <a:off x="6949440" y="1508760"/>
            <a:ext cx="4693615" cy="1810210"/>
          </a:xfrm>
          <a:prstGeom prst="rect">
            <a:avLst/>
          </a:prstGeom>
          <a:solidFill>
            <a:schemeClr val="bg1"/>
          </a:solidFill>
          <a:ln w="9525">
            <a:solidFill>
              <a:srgbClr val="D9D3E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Capture 428" descr="Un cluster-question sur le tableau, marqué d’un point d’interrog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1554480"/>
            <a:ext cx="4602175" cy="1718770"/>
          </a:xfrm>
          <a:prstGeom prst="rect">
            <a:avLst/>
          </a:prstGeom>
        </p:spPr>
      </p:pic>
      <p:sp>
        <p:nvSpPr>
          <p:cNvPr id="9" name="Texte 429"/>
          <p:cNvSpPr txBox="1"/>
          <p:nvPr/>
        </p:nvSpPr>
        <p:spPr>
          <a:xfrm>
            <a:off x="6949440" y="3428698"/>
            <a:ext cx="46936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070"/>
                </a:solidFill>
              </a:rPr>
              <a:t>Sur le tableau, un cluster-question est marqué d’un « ? ».</a:t>
            </a:r>
            <a:endParaRPr lang="en-US" sz="1200" dirty="0"/>
          </a:p>
        </p:txBody>
      </p:sp>
      <p:sp>
        <p:nvSpPr>
          <p:cNvPr id="10" name="Carte 430"/>
          <p:cNvSpPr/>
          <p:nvPr/>
        </p:nvSpPr>
        <p:spPr>
          <a:xfrm>
            <a:off x="6949440" y="4096210"/>
            <a:ext cx="4693615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astille 431"/>
          <p:cNvSpPr/>
          <p:nvPr/>
        </p:nvSpPr>
        <p:spPr>
          <a:xfrm>
            <a:off x="7132320" y="4420822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cône 43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6927" y="4525429"/>
            <a:ext cx="193121" cy="193121"/>
          </a:xfrm>
          <a:prstGeom prst="rect">
            <a:avLst/>
          </a:prstGeom>
        </p:spPr>
      </p:pic>
      <p:sp>
        <p:nvSpPr>
          <p:cNvPr id="13" name="Texte 433"/>
          <p:cNvSpPr txBox="1"/>
          <p:nvPr/>
        </p:nvSpPr>
        <p:spPr>
          <a:xfrm>
            <a:off x="7699248" y="4096210"/>
            <a:ext cx="37792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Affinez en cours de route : une nouvelle sous-question est simplement un cluster glissé dans un autre.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de partie 434"/>
          <p:cNvSpPr txBox="1"/>
          <p:nvPr/>
        </p:nvSpPr>
        <p:spPr>
          <a:xfrm>
            <a:off x="822960" y="182880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3291840" y="2240280"/>
            <a:ext cx="8138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Pour bien démarrer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3291840" y="3611880"/>
            <a:ext cx="8138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Exporter, protéger son travail, gagner du temps, éviter les pièges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Exporter votre travail</a:t>
            </a:r>
            <a:endParaRPr lang="en-US" sz="3400" dirty="0"/>
          </a:p>
        </p:txBody>
      </p:sp>
      <p:sp>
        <p:nvSpPr>
          <p:cNvPr id="4" name="Pastille 435"/>
          <p:cNvSpPr/>
          <p:nvPr/>
        </p:nvSpPr>
        <p:spPr>
          <a:xfrm>
            <a:off x="548640" y="1508760"/>
            <a:ext cx="475488" cy="47548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Icône 43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267" y="1632387"/>
            <a:ext cx="228234" cy="228234"/>
          </a:xfrm>
          <a:prstGeom prst="rect">
            <a:avLst/>
          </a:prstGeom>
        </p:spPr>
      </p:pic>
      <p:sp>
        <p:nvSpPr>
          <p:cNvPr id="6" name="Texte 437"/>
          <p:cNvSpPr txBox="1"/>
          <p:nvPr/>
        </p:nvSpPr>
        <p:spPr>
          <a:xfrm>
            <a:off x="1207008" y="1508760"/>
            <a:ext cx="5376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Rapports</a:t>
            </a:r>
            <a:endParaRPr lang="en-US" sz="1600" dirty="0"/>
          </a:p>
        </p:txBody>
      </p:sp>
      <p:sp>
        <p:nvSpPr>
          <p:cNvPr id="7" name="Texte 438"/>
          <p:cNvSpPr txBox="1"/>
          <p:nvPr/>
        </p:nvSpPr>
        <p:spPr>
          <a:xfrm>
            <a:off x="1207008" y="1874520"/>
            <a:ext cx="5376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Standard report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: livre de codes, notes, comparaison des cas, en Word, HTML ou PDF.</a:t>
            </a:r>
            <a:endParaRPr lang="en-US" sz="1400" dirty="0"/>
          </a:p>
        </p:txBody>
      </p:sp>
      <p:sp>
        <p:nvSpPr>
          <p:cNvPr id="8" name="Pastille 439"/>
          <p:cNvSpPr/>
          <p:nvPr/>
        </p:nvSpPr>
        <p:spPr>
          <a:xfrm>
            <a:off x="548640" y="265176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ône 44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67" y="2775387"/>
            <a:ext cx="228234" cy="228234"/>
          </a:xfrm>
          <a:prstGeom prst="rect">
            <a:avLst/>
          </a:prstGeom>
        </p:spPr>
      </p:pic>
      <p:sp>
        <p:nvSpPr>
          <p:cNvPr id="10" name="Texte 441"/>
          <p:cNvSpPr txBox="1"/>
          <p:nvPr/>
        </p:nvSpPr>
        <p:spPr>
          <a:xfrm>
            <a:off x="1207008" y="2651760"/>
            <a:ext cx="5376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Plan de résultats</a:t>
            </a:r>
            <a:endParaRPr lang="en-US" sz="1600" dirty="0"/>
          </a:p>
        </p:txBody>
      </p:sp>
      <p:sp>
        <p:nvSpPr>
          <p:cNvPr id="11" name="Texte 442"/>
          <p:cNvSpPr txBox="1"/>
          <p:nvPr/>
        </p:nvSpPr>
        <p:spPr>
          <a:xfrm>
            <a:off x="1207008" y="3017520"/>
            <a:ext cx="5376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Results draft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: par thème, par cas ou par question, avec citations et notes.</a:t>
            </a:r>
            <a:endParaRPr lang="en-US" sz="1400" dirty="0"/>
          </a:p>
        </p:txBody>
      </p:sp>
      <p:sp>
        <p:nvSpPr>
          <p:cNvPr id="12" name="Pastille 443"/>
          <p:cNvSpPr/>
          <p:nvPr/>
        </p:nvSpPr>
        <p:spPr>
          <a:xfrm>
            <a:off x="548640" y="3794760"/>
            <a:ext cx="475488" cy="47548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cône 44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67" y="3918387"/>
            <a:ext cx="228234" cy="228234"/>
          </a:xfrm>
          <a:prstGeom prst="rect">
            <a:avLst/>
          </a:prstGeom>
        </p:spPr>
      </p:pic>
      <p:sp>
        <p:nvSpPr>
          <p:cNvPr id="14" name="Texte 445"/>
          <p:cNvSpPr txBox="1"/>
          <p:nvPr/>
        </p:nvSpPr>
        <p:spPr>
          <a:xfrm>
            <a:off x="1207008" y="3794760"/>
            <a:ext cx="5376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Tableur</a:t>
            </a:r>
            <a:endParaRPr lang="en-US" sz="1600" dirty="0"/>
          </a:p>
        </p:txBody>
      </p:sp>
      <p:sp>
        <p:nvSpPr>
          <p:cNvPr id="15" name="Texte 446"/>
          <p:cNvSpPr txBox="1"/>
          <p:nvPr/>
        </p:nvSpPr>
        <p:spPr>
          <a:xfrm>
            <a:off x="1207008" y="4160520"/>
            <a:ext cx="5376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Export coded passages (.xlsx)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: un passage par ligne, pour une annexe ou vos propres tris.</a:t>
            </a:r>
            <a:endParaRPr lang="en-US" sz="1400" dirty="0"/>
          </a:p>
        </p:txBody>
      </p:sp>
      <p:sp>
        <p:nvSpPr>
          <p:cNvPr id="16" name="Pastille 447"/>
          <p:cNvSpPr/>
          <p:nvPr/>
        </p:nvSpPr>
        <p:spPr>
          <a:xfrm>
            <a:off x="548640" y="4937760"/>
            <a:ext cx="475488" cy="47548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7" name="Icône 44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67" y="5061387"/>
            <a:ext cx="228234" cy="228234"/>
          </a:xfrm>
          <a:prstGeom prst="rect">
            <a:avLst/>
          </a:prstGeom>
        </p:spPr>
      </p:pic>
      <p:sp>
        <p:nvSpPr>
          <p:cNvPr id="18" name="Texte 449"/>
          <p:cNvSpPr txBox="1"/>
          <p:nvPr/>
        </p:nvSpPr>
        <p:spPr>
          <a:xfrm>
            <a:off x="1207008" y="4937760"/>
            <a:ext cx="5376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Carte et échange</a:t>
            </a:r>
            <a:endParaRPr lang="en-US" sz="1600" dirty="0"/>
          </a:p>
        </p:txBody>
      </p:sp>
      <p:sp>
        <p:nvSpPr>
          <p:cNvPr id="19" name="Texte 450"/>
          <p:cNvSpPr txBox="1"/>
          <p:nvPr/>
        </p:nvSpPr>
        <p:spPr>
          <a:xfrm>
            <a:off x="1207008" y="5303520"/>
            <a:ext cx="5376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Export as PDF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sur le tableau ;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REFI-QDA (.qdpx)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vers NVivo, MAXQDA, ATLAS.ti ou QualCoder.</a:t>
            </a:r>
            <a:endParaRPr lang="en-US" sz="1400" dirty="0"/>
          </a:p>
        </p:txBody>
      </p:sp>
      <p:sp>
        <p:nvSpPr>
          <p:cNvPr id="20" name="Cadre 451"/>
          <p:cNvSpPr/>
          <p:nvPr/>
        </p:nvSpPr>
        <p:spPr>
          <a:xfrm>
            <a:off x="7159752" y="1508760"/>
            <a:ext cx="4480560" cy="3988791"/>
          </a:xfrm>
          <a:prstGeom prst="rect">
            <a:avLst/>
          </a:prstGeom>
          <a:solidFill>
            <a:schemeClr val="bg1"/>
          </a:solidFill>
          <a:ln w="9525">
            <a:solidFill>
              <a:srgbClr val="D9D3E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Capture 452" descr="L’onglet Export, mode Results draf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2" y="1554480"/>
            <a:ext cx="4389120" cy="3897351"/>
          </a:xfrm>
          <a:prstGeom prst="rect">
            <a:avLst/>
          </a:prstGeom>
        </p:spPr>
      </p:pic>
      <p:sp>
        <p:nvSpPr>
          <p:cNvPr id="22" name="Texte 453"/>
          <p:cNvSpPr txBox="1"/>
          <p:nvPr/>
        </p:nvSpPr>
        <p:spPr>
          <a:xfrm>
            <a:off x="7159752" y="5607279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070"/>
                </a:solidFill>
              </a:rPr>
              <a:t>L’onglet Export, en mode </a:t>
            </a:r>
            <a:pPr indent="0" marL="0">
              <a:buNone/>
            </a:pPr>
            <a:r>
              <a:rPr lang="en-US" sz="1200" b="1" i="1" dirty="0">
                <a:solidFill>
                  <a:srgbClr val="5B6070"/>
                </a:solidFill>
              </a:rPr>
              <a:t>Results draft</a:t>
            </a:r>
            <a:pPr indent="0" marL="0">
              <a:buNone/>
            </a:pPr>
            <a:r>
              <a:rPr lang="en-US" sz="1200" i="1" dirty="0">
                <a:solidFill>
                  <a:srgbClr val="5B6070"/>
                </a:solidFill>
              </a:rPr>
              <a:t>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Protéger votre travail</a:t>
            </a:r>
            <a:endParaRPr lang="en-US" sz="3400" dirty="0"/>
          </a:p>
        </p:txBody>
      </p:sp>
      <p:sp>
        <p:nvSpPr>
          <p:cNvPr id="4" name="Carte 454"/>
          <p:cNvSpPr/>
          <p:nvPr/>
        </p:nvSpPr>
        <p:spPr>
          <a:xfrm>
            <a:off x="548640" y="1554480"/>
            <a:ext cx="541004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 455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45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71446"/>
            <a:ext cx="263347" cy="263347"/>
          </a:xfrm>
          <a:prstGeom prst="rect">
            <a:avLst/>
          </a:prstGeom>
        </p:spPr>
      </p:pic>
      <p:sp>
        <p:nvSpPr>
          <p:cNvPr id="7" name="Texte 457"/>
          <p:cNvSpPr txBox="1"/>
          <p:nvPr/>
        </p:nvSpPr>
        <p:spPr>
          <a:xfrm>
            <a:off x="1554480" y="182880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Enregistrez souvent</a:t>
            </a:r>
            <a:endParaRPr lang="en-US" sz="1900" dirty="0"/>
          </a:p>
        </p:txBody>
      </p:sp>
      <p:sp>
        <p:nvSpPr>
          <p:cNvPr id="8" name="Texte 458"/>
          <p:cNvSpPr txBox="1"/>
          <p:nvPr/>
        </p:nvSpPr>
        <p:spPr>
          <a:xfrm>
            <a:off x="822960" y="2560320"/>
            <a:ext cx="486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Bouton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Save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, en haut. La mention « unsaved changes » sous le nom du projet signale ce qui n’est pas encore enregistré.</a:t>
            </a:r>
            <a:endParaRPr lang="en-US" sz="1500" dirty="0"/>
          </a:p>
        </p:txBody>
      </p:sp>
      <p:sp>
        <p:nvSpPr>
          <p:cNvPr id="9" name="Carte 459"/>
          <p:cNvSpPr/>
          <p:nvPr/>
        </p:nvSpPr>
        <p:spPr>
          <a:xfrm>
            <a:off x="6233008" y="1554480"/>
            <a:ext cx="541004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 460"/>
          <p:cNvSpPr/>
          <p:nvPr/>
        </p:nvSpPr>
        <p:spPr>
          <a:xfrm>
            <a:off x="6507328" y="18288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cône 46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974" y="1971446"/>
            <a:ext cx="263347" cy="263347"/>
          </a:xfrm>
          <a:prstGeom prst="rect">
            <a:avLst/>
          </a:prstGeom>
        </p:spPr>
      </p:pic>
      <p:sp>
        <p:nvSpPr>
          <p:cNvPr id="12" name="Texte 462"/>
          <p:cNvSpPr txBox="1"/>
          <p:nvPr/>
        </p:nvSpPr>
        <p:spPr>
          <a:xfrm>
            <a:off x="7238848" y="182880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Revenez en arrière</a:t>
            </a:r>
            <a:endParaRPr lang="en-US" sz="1900" dirty="0"/>
          </a:p>
        </p:txBody>
      </p:sp>
      <p:sp>
        <p:nvSpPr>
          <p:cNvPr id="13" name="Texte 463"/>
          <p:cNvSpPr txBox="1"/>
          <p:nvPr/>
        </p:nvSpPr>
        <p:spPr>
          <a:xfrm>
            <a:off x="6507328" y="2560320"/>
            <a:ext cx="486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Undo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et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Redo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(Ctrl+Z).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History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conserve jusqu’à vingt versions antérieures du projet.</a:t>
            </a:r>
            <a:endParaRPr lang="en-US" sz="1500" dirty="0"/>
          </a:p>
        </p:txBody>
      </p:sp>
      <p:sp>
        <p:nvSpPr>
          <p:cNvPr id="14" name="Carte 464"/>
          <p:cNvSpPr/>
          <p:nvPr/>
        </p:nvSpPr>
        <p:spPr>
          <a:xfrm>
            <a:off x="548640" y="3977640"/>
            <a:ext cx="541004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 465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6" name="Icône 46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4394606"/>
            <a:ext cx="263347" cy="263347"/>
          </a:xfrm>
          <a:prstGeom prst="rect">
            <a:avLst/>
          </a:prstGeom>
        </p:spPr>
      </p:pic>
      <p:sp>
        <p:nvSpPr>
          <p:cNvPr id="17" name="Texte 467"/>
          <p:cNvSpPr txBox="1"/>
          <p:nvPr/>
        </p:nvSpPr>
        <p:spPr>
          <a:xfrm>
            <a:off x="1554480" y="425196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Copiez le fichier</a:t>
            </a:r>
            <a:endParaRPr lang="en-US" sz="1900" dirty="0"/>
          </a:p>
        </p:txBody>
      </p:sp>
      <p:sp>
        <p:nvSpPr>
          <p:cNvPr id="18" name="Texte 468"/>
          <p:cNvSpPr txBox="1"/>
          <p:nvPr/>
        </p:nvSpPr>
        <p:spPr>
          <a:xfrm>
            <a:off x="822960" y="4983480"/>
            <a:ext cx="486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Tout le projet est dans un seul fichier .qdaproj : copiez-le régulièrement sur un autre support.</a:t>
            </a:r>
            <a:endParaRPr lang="en-US" sz="1500" dirty="0"/>
          </a:p>
        </p:txBody>
      </p:sp>
      <p:sp>
        <p:nvSpPr>
          <p:cNvPr id="19" name="Carte 469"/>
          <p:cNvSpPr/>
          <p:nvPr/>
        </p:nvSpPr>
        <p:spPr>
          <a:xfrm>
            <a:off x="6233008" y="3977640"/>
            <a:ext cx="541004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 470"/>
          <p:cNvSpPr/>
          <p:nvPr/>
        </p:nvSpPr>
        <p:spPr>
          <a:xfrm>
            <a:off x="6507328" y="42519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Icône 47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974" y="4394606"/>
            <a:ext cx="263347" cy="263347"/>
          </a:xfrm>
          <a:prstGeom prst="rect">
            <a:avLst/>
          </a:prstGeom>
        </p:spPr>
      </p:pic>
      <p:sp>
        <p:nvSpPr>
          <p:cNvPr id="22" name="Texte 472"/>
          <p:cNvSpPr txBox="1"/>
          <p:nvPr/>
        </p:nvSpPr>
        <p:spPr>
          <a:xfrm>
            <a:off x="7238848" y="4251960"/>
            <a:ext cx="412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Anonymisez avant d’importer</a:t>
            </a:r>
            <a:endParaRPr lang="en-US" sz="1900" dirty="0"/>
          </a:p>
        </p:txBody>
      </p:sp>
      <p:sp>
        <p:nvSpPr>
          <p:cNvPr id="23" name="Texte 473"/>
          <p:cNvSpPr txBox="1"/>
          <p:nvPr/>
        </p:nvSpPr>
        <p:spPr>
          <a:xfrm>
            <a:off x="6507328" y="4983480"/>
            <a:ext cx="486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Remplacez noms et lieux dans vos transcriptions, selon les engagements pris auprès des participants.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Dix gestes qui font gagner du temps</a:t>
            </a:r>
            <a:endParaRPr lang="en-US" sz="3400" dirty="0"/>
          </a:p>
        </p:txBody>
      </p:sp>
      <p:sp>
        <p:nvSpPr>
          <p:cNvPr id="4" name="Touche 474"/>
          <p:cNvSpPr/>
          <p:nvPr/>
        </p:nvSpPr>
        <p:spPr>
          <a:xfrm>
            <a:off x="548640" y="1554480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e 475"/>
          <p:cNvSpPr txBox="1"/>
          <p:nvPr/>
        </p:nvSpPr>
        <p:spPr>
          <a:xfrm>
            <a:off x="548640" y="1554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Ctrl+Z · Ctrl+Maj+Z</a:t>
            </a:r>
            <a:endParaRPr lang="en-US" sz="1400" dirty="0"/>
          </a:p>
        </p:txBody>
      </p:sp>
      <p:sp>
        <p:nvSpPr>
          <p:cNvPr id="6" name="Texte 476"/>
          <p:cNvSpPr txBox="1"/>
          <p:nvPr/>
        </p:nvSpPr>
        <p:spPr>
          <a:xfrm>
            <a:off x="3383280" y="1554480"/>
            <a:ext cx="2529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Annuler, rétablir.</a:t>
            </a:r>
            <a:endParaRPr lang="en-US" sz="1400" dirty="0"/>
          </a:p>
        </p:txBody>
      </p:sp>
      <p:sp>
        <p:nvSpPr>
          <p:cNvPr id="7" name="Touche 477"/>
          <p:cNvSpPr/>
          <p:nvPr/>
        </p:nvSpPr>
        <p:spPr>
          <a:xfrm>
            <a:off x="548640" y="2423160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e 478"/>
          <p:cNvSpPr txBox="1"/>
          <p:nvPr/>
        </p:nvSpPr>
        <p:spPr>
          <a:xfrm>
            <a:off x="548640" y="2423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Double-clic sur un code</a:t>
            </a:r>
            <a:endParaRPr lang="en-US" sz="1400" dirty="0"/>
          </a:p>
        </p:txBody>
      </p:sp>
      <p:sp>
        <p:nvSpPr>
          <p:cNvPr id="9" name="Texte 479"/>
          <p:cNvSpPr txBox="1"/>
          <p:nvPr/>
        </p:nvSpPr>
        <p:spPr>
          <a:xfrm>
            <a:off x="3383280" y="2423160"/>
            <a:ext cx="2529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Tous ses passages.</a:t>
            </a:r>
            <a:endParaRPr lang="en-US" sz="1400" dirty="0"/>
          </a:p>
        </p:txBody>
      </p:sp>
      <p:sp>
        <p:nvSpPr>
          <p:cNvPr id="10" name="Touche 480"/>
          <p:cNvSpPr/>
          <p:nvPr/>
        </p:nvSpPr>
        <p:spPr>
          <a:xfrm>
            <a:off x="548640" y="3291840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e 481"/>
          <p:cNvSpPr txBox="1"/>
          <p:nvPr/>
        </p:nvSpPr>
        <p:spPr>
          <a:xfrm>
            <a:off x="548640" y="3291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Double-clic sur un nom</a:t>
            </a:r>
            <a:endParaRPr lang="en-US" sz="1400" dirty="0"/>
          </a:p>
        </p:txBody>
      </p:sp>
      <p:sp>
        <p:nvSpPr>
          <p:cNvPr id="12" name="Texte 482"/>
          <p:cNvSpPr txBox="1"/>
          <p:nvPr/>
        </p:nvSpPr>
        <p:spPr>
          <a:xfrm>
            <a:off x="3383280" y="3291840"/>
            <a:ext cx="2529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Renommer un cluster, un document, le projet.</a:t>
            </a:r>
            <a:endParaRPr lang="en-US" sz="1400" dirty="0"/>
          </a:p>
        </p:txBody>
      </p:sp>
      <p:sp>
        <p:nvSpPr>
          <p:cNvPr id="13" name="Touche 483"/>
          <p:cNvSpPr/>
          <p:nvPr/>
        </p:nvSpPr>
        <p:spPr>
          <a:xfrm>
            <a:off x="548640" y="4160520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e 484"/>
          <p:cNvSpPr txBox="1"/>
          <p:nvPr/>
        </p:nvSpPr>
        <p:spPr>
          <a:xfrm>
            <a:off x="548640" y="4160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Filter codes/clusters…</a:t>
            </a:r>
            <a:endParaRPr lang="en-US" sz="1400" dirty="0"/>
          </a:p>
        </p:txBody>
      </p:sp>
      <p:sp>
        <p:nvSpPr>
          <p:cNvPr id="15" name="Texte 485"/>
          <p:cNvSpPr txBox="1"/>
          <p:nvPr/>
        </p:nvSpPr>
        <p:spPr>
          <a:xfrm>
            <a:off x="3383280" y="4160520"/>
            <a:ext cx="2529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Retrouver un code dans une longue liste.</a:t>
            </a:r>
            <a:endParaRPr lang="en-US" sz="1400" dirty="0"/>
          </a:p>
        </p:txBody>
      </p:sp>
      <p:sp>
        <p:nvSpPr>
          <p:cNvPr id="16" name="Touche 486"/>
          <p:cNvSpPr/>
          <p:nvPr/>
        </p:nvSpPr>
        <p:spPr>
          <a:xfrm>
            <a:off x="548640" y="5029200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e 487"/>
          <p:cNvSpPr txBox="1"/>
          <p:nvPr/>
        </p:nvSpPr>
        <p:spPr>
          <a:xfrm>
            <a:off x="548640" y="5029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Glisser un code sur un autre</a:t>
            </a:r>
            <a:endParaRPr lang="en-US" sz="1400" dirty="0"/>
          </a:p>
        </p:txBody>
      </p:sp>
      <p:sp>
        <p:nvSpPr>
          <p:cNvPr id="18" name="Texte 488"/>
          <p:cNvSpPr txBox="1"/>
          <p:nvPr/>
        </p:nvSpPr>
        <p:spPr>
          <a:xfrm>
            <a:off x="3383280" y="5029200"/>
            <a:ext cx="2529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 faire un sous-code.</a:t>
            </a:r>
            <a:endParaRPr lang="en-US" sz="1400" dirty="0"/>
          </a:p>
        </p:txBody>
      </p:sp>
      <p:sp>
        <p:nvSpPr>
          <p:cNvPr id="19" name="Touche 489"/>
          <p:cNvSpPr/>
          <p:nvPr/>
        </p:nvSpPr>
        <p:spPr>
          <a:xfrm>
            <a:off x="6278728" y="1554480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e 490"/>
          <p:cNvSpPr txBox="1"/>
          <p:nvPr/>
        </p:nvSpPr>
        <p:spPr>
          <a:xfrm>
            <a:off x="6278728" y="1554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Ctrl+molette, sur Board</a:t>
            </a:r>
            <a:endParaRPr lang="en-US" sz="1400" dirty="0"/>
          </a:p>
        </p:txBody>
      </p:sp>
      <p:sp>
        <p:nvSpPr>
          <p:cNvPr id="21" name="Texte 491"/>
          <p:cNvSpPr txBox="1"/>
          <p:nvPr/>
        </p:nvSpPr>
        <p:spPr>
          <a:xfrm>
            <a:off x="9113368" y="1554480"/>
            <a:ext cx="2529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Zoomer.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Fit view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montre tout.</a:t>
            </a:r>
            <a:endParaRPr lang="en-US" sz="1400" dirty="0"/>
          </a:p>
        </p:txBody>
      </p:sp>
      <p:sp>
        <p:nvSpPr>
          <p:cNvPr id="22" name="Touche 492"/>
          <p:cNvSpPr/>
          <p:nvPr/>
        </p:nvSpPr>
        <p:spPr>
          <a:xfrm>
            <a:off x="6278728" y="2423160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e 493"/>
          <p:cNvSpPr txBox="1"/>
          <p:nvPr/>
        </p:nvSpPr>
        <p:spPr>
          <a:xfrm>
            <a:off x="6278728" y="2423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Ctrl+F, sur Board</a:t>
            </a:r>
            <a:endParaRPr lang="en-US" sz="1400" dirty="0"/>
          </a:p>
        </p:txBody>
      </p:sp>
      <p:sp>
        <p:nvSpPr>
          <p:cNvPr id="24" name="Texte 494"/>
          <p:cNvSpPr txBox="1"/>
          <p:nvPr/>
        </p:nvSpPr>
        <p:spPr>
          <a:xfrm>
            <a:off x="9113368" y="2423160"/>
            <a:ext cx="2529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Trouver un code, une note, un cluster.</a:t>
            </a:r>
            <a:endParaRPr lang="en-US" sz="1400" dirty="0"/>
          </a:p>
        </p:txBody>
      </p:sp>
      <p:sp>
        <p:nvSpPr>
          <p:cNvPr id="25" name="Touche 495"/>
          <p:cNvSpPr/>
          <p:nvPr/>
        </p:nvSpPr>
        <p:spPr>
          <a:xfrm>
            <a:off x="6278728" y="3291840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e 496"/>
          <p:cNvSpPr txBox="1"/>
          <p:nvPr/>
        </p:nvSpPr>
        <p:spPr>
          <a:xfrm>
            <a:off x="6278728" y="3291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Maj+glisser une carte</a:t>
            </a:r>
            <a:endParaRPr lang="en-US" sz="1400" dirty="0"/>
          </a:p>
        </p:txBody>
      </p:sp>
      <p:sp>
        <p:nvSpPr>
          <p:cNvPr id="27" name="Texte 497"/>
          <p:cNvSpPr txBox="1"/>
          <p:nvPr/>
        </p:nvSpPr>
        <p:spPr>
          <a:xfrm>
            <a:off x="9113368" y="3291840"/>
            <a:ext cx="2529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relier à la carte voisine.</a:t>
            </a:r>
            <a:endParaRPr lang="en-US" sz="1400" dirty="0"/>
          </a:p>
        </p:txBody>
      </p:sp>
      <p:sp>
        <p:nvSpPr>
          <p:cNvPr id="28" name="Touche 498"/>
          <p:cNvSpPr/>
          <p:nvPr/>
        </p:nvSpPr>
        <p:spPr>
          <a:xfrm>
            <a:off x="6278728" y="4160520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e 499"/>
          <p:cNvSpPr txBox="1"/>
          <p:nvPr/>
        </p:nvSpPr>
        <p:spPr>
          <a:xfrm>
            <a:off x="6278728" y="4160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Clic droit sur une carte</a:t>
            </a:r>
            <a:endParaRPr lang="en-US" sz="1400" dirty="0"/>
          </a:p>
        </p:txBody>
      </p:sp>
      <p:sp>
        <p:nvSpPr>
          <p:cNvPr id="30" name="Texte 500"/>
          <p:cNvSpPr txBox="1"/>
          <p:nvPr/>
        </p:nvSpPr>
        <p:spPr>
          <a:xfrm>
            <a:off x="9113368" y="4160520"/>
            <a:ext cx="2529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Ses détails et ses extraits.</a:t>
            </a:r>
            <a:endParaRPr lang="en-US" sz="1400" dirty="0"/>
          </a:p>
        </p:txBody>
      </p:sp>
      <p:sp>
        <p:nvSpPr>
          <p:cNvPr id="31" name="Touche 501"/>
          <p:cNvSpPr/>
          <p:nvPr/>
        </p:nvSpPr>
        <p:spPr>
          <a:xfrm>
            <a:off x="6278728" y="5029200"/>
            <a:ext cx="26517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e 502"/>
          <p:cNvSpPr txBox="1"/>
          <p:nvPr/>
        </p:nvSpPr>
        <p:spPr>
          <a:xfrm>
            <a:off x="6278728" y="5029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Go to passage →</a:t>
            </a:r>
            <a:endParaRPr lang="en-US" sz="1400" dirty="0"/>
          </a:p>
        </p:txBody>
      </p:sp>
      <p:sp>
        <p:nvSpPr>
          <p:cNvPr id="33" name="Texte 503"/>
          <p:cNvSpPr txBox="1"/>
          <p:nvPr/>
        </p:nvSpPr>
        <p:spPr>
          <a:xfrm>
            <a:off x="9113368" y="5029200"/>
            <a:ext cx="2529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Revenir au texte depuis Analysis.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Six pièges de débutant</a:t>
            </a:r>
            <a:endParaRPr lang="en-US" sz="3400" dirty="0"/>
          </a:p>
        </p:txBody>
      </p:sp>
      <p:sp>
        <p:nvSpPr>
          <p:cNvPr id="4" name="Carte 504"/>
          <p:cNvSpPr/>
          <p:nvPr/>
        </p:nvSpPr>
        <p:spPr>
          <a:xfrm>
            <a:off x="548640" y="1554480"/>
            <a:ext cx="351525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 505"/>
          <p:cNvSpPr/>
          <p:nvPr/>
        </p:nvSpPr>
        <p:spPr>
          <a:xfrm>
            <a:off x="822960" y="181051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6" name="Icône 50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929384"/>
            <a:ext cx="219456" cy="219456"/>
          </a:xfrm>
          <a:prstGeom prst="rect">
            <a:avLst/>
          </a:prstGeom>
        </p:spPr>
      </p:pic>
      <p:sp>
        <p:nvSpPr>
          <p:cNvPr id="7" name="Texte 507"/>
          <p:cNvSpPr txBox="1"/>
          <p:nvPr/>
        </p:nvSpPr>
        <p:spPr>
          <a:xfrm>
            <a:off x="1417320" y="1810512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Trop de codes, trop vite</a:t>
            </a:r>
            <a:endParaRPr lang="en-US" sz="1700" dirty="0"/>
          </a:p>
        </p:txBody>
      </p:sp>
      <p:sp>
        <p:nvSpPr>
          <p:cNvPr id="8" name="Texte 508"/>
          <p:cNvSpPr txBox="1"/>
          <p:nvPr/>
        </p:nvSpPr>
        <p:spPr>
          <a:xfrm>
            <a:off x="822960" y="2468880"/>
            <a:ext cx="296661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Après deux entretiens, relisez votre liste et fusionnez les doublons (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Merge into…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).</a:t>
            </a:r>
            <a:endParaRPr lang="en-US" sz="1500" dirty="0"/>
          </a:p>
        </p:txBody>
      </p:sp>
      <p:sp>
        <p:nvSpPr>
          <p:cNvPr id="9" name="Carte 509"/>
          <p:cNvSpPr/>
          <p:nvPr/>
        </p:nvSpPr>
        <p:spPr>
          <a:xfrm>
            <a:off x="4338218" y="1554480"/>
            <a:ext cx="351525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 510"/>
          <p:cNvSpPr/>
          <p:nvPr/>
        </p:nvSpPr>
        <p:spPr>
          <a:xfrm>
            <a:off x="4612538" y="181051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1" name="Icône 51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410" y="1929384"/>
            <a:ext cx="219456" cy="219456"/>
          </a:xfrm>
          <a:prstGeom prst="rect">
            <a:avLst/>
          </a:prstGeom>
        </p:spPr>
      </p:pic>
      <p:sp>
        <p:nvSpPr>
          <p:cNvPr id="12" name="Texte 512"/>
          <p:cNvSpPr txBox="1"/>
          <p:nvPr/>
        </p:nvSpPr>
        <p:spPr>
          <a:xfrm>
            <a:off x="5206898" y="1810512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Des codes sans définition</a:t>
            </a:r>
            <a:endParaRPr lang="en-US" sz="1700" dirty="0"/>
          </a:p>
        </p:txBody>
      </p:sp>
      <p:sp>
        <p:nvSpPr>
          <p:cNvPr id="13" name="Texte 513"/>
          <p:cNvSpPr txBox="1"/>
          <p:nvPr/>
        </p:nvSpPr>
        <p:spPr>
          <a:xfrm>
            <a:off x="4612538" y="2468880"/>
            <a:ext cx="296661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Une phrase dans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Def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suffit. Sans elle, un code change de sens en cours de route.</a:t>
            </a:r>
            <a:endParaRPr lang="en-US" sz="1500" dirty="0"/>
          </a:p>
        </p:txBody>
      </p:sp>
      <p:sp>
        <p:nvSpPr>
          <p:cNvPr id="14" name="Carte 514"/>
          <p:cNvSpPr/>
          <p:nvPr/>
        </p:nvSpPr>
        <p:spPr>
          <a:xfrm>
            <a:off x="8127797" y="1554480"/>
            <a:ext cx="351525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 515"/>
          <p:cNvSpPr/>
          <p:nvPr/>
        </p:nvSpPr>
        <p:spPr>
          <a:xfrm>
            <a:off x="8402117" y="181051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6" name="Icône 51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0989" y="1929384"/>
            <a:ext cx="219456" cy="219456"/>
          </a:xfrm>
          <a:prstGeom prst="rect">
            <a:avLst/>
          </a:prstGeom>
        </p:spPr>
      </p:pic>
      <p:sp>
        <p:nvSpPr>
          <p:cNvPr id="17" name="Texte 517"/>
          <p:cNvSpPr txBox="1"/>
          <p:nvPr/>
        </p:nvSpPr>
        <p:spPr>
          <a:xfrm>
            <a:off x="8996477" y="1810512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Des extraits trop courts</a:t>
            </a:r>
            <a:endParaRPr lang="en-US" sz="1700" dirty="0"/>
          </a:p>
        </p:txBody>
      </p:sp>
      <p:sp>
        <p:nvSpPr>
          <p:cNvPr id="18" name="Texte 518"/>
          <p:cNvSpPr txBox="1"/>
          <p:nvPr/>
        </p:nvSpPr>
        <p:spPr>
          <a:xfrm>
            <a:off x="8402117" y="2468880"/>
            <a:ext cx="296661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Surlignez assez de texte pour que le passage se comprenne seul.</a:t>
            </a:r>
            <a:endParaRPr lang="en-US" sz="1500" dirty="0"/>
          </a:p>
        </p:txBody>
      </p:sp>
      <p:sp>
        <p:nvSpPr>
          <p:cNvPr id="19" name="Carte 519"/>
          <p:cNvSpPr/>
          <p:nvPr/>
        </p:nvSpPr>
        <p:spPr>
          <a:xfrm>
            <a:off x="548640" y="3977640"/>
            <a:ext cx="351525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 520"/>
          <p:cNvSpPr/>
          <p:nvPr/>
        </p:nvSpPr>
        <p:spPr>
          <a:xfrm>
            <a:off x="822960" y="4233672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1" name="Icône 52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352544"/>
            <a:ext cx="219456" cy="219456"/>
          </a:xfrm>
          <a:prstGeom prst="rect">
            <a:avLst/>
          </a:prstGeom>
        </p:spPr>
      </p:pic>
      <p:sp>
        <p:nvSpPr>
          <p:cNvPr id="22" name="Texte 522"/>
          <p:cNvSpPr txBox="1"/>
          <p:nvPr/>
        </p:nvSpPr>
        <p:spPr>
          <a:xfrm>
            <a:off x="1417320" y="4233672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Compter au lieu de comprendre</a:t>
            </a:r>
            <a:endParaRPr lang="en-US" sz="1700" dirty="0"/>
          </a:p>
        </p:txBody>
      </p:sp>
      <p:sp>
        <p:nvSpPr>
          <p:cNvPr id="23" name="Texte 523"/>
          <p:cNvSpPr txBox="1"/>
          <p:nvPr/>
        </p:nvSpPr>
        <p:spPr>
          <a:xfrm>
            <a:off x="822960" y="4892040"/>
            <a:ext cx="296661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Les chiffres orientent la lecture ; ils ne remplacent pas l’interprétation.</a:t>
            </a:r>
            <a:endParaRPr lang="en-US" sz="1500" dirty="0"/>
          </a:p>
        </p:txBody>
      </p:sp>
      <p:sp>
        <p:nvSpPr>
          <p:cNvPr id="24" name="Carte 524"/>
          <p:cNvSpPr/>
          <p:nvPr/>
        </p:nvSpPr>
        <p:spPr>
          <a:xfrm>
            <a:off x="4338218" y="3977640"/>
            <a:ext cx="351525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stille 525"/>
          <p:cNvSpPr/>
          <p:nvPr/>
        </p:nvSpPr>
        <p:spPr>
          <a:xfrm>
            <a:off x="4612538" y="42336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6" name="Icône 52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1410" y="4352544"/>
            <a:ext cx="219456" cy="219456"/>
          </a:xfrm>
          <a:prstGeom prst="rect">
            <a:avLst/>
          </a:prstGeom>
        </p:spPr>
      </p:pic>
      <p:sp>
        <p:nvSpPr>
          <p:cNvPr id="27" name="Texte 527"/>
          <p:cNvSpPr txBox="1"/>
          <p:nvPr/>
        </p:nvSpPr>
        <p:spPr>
          <a:xfrm>
            <a:off x="5206898" y="4233672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Un PDF scanné sans texte</a:t>
            </a:r>
            <a:endParaRPr lang="en-US" sz="1700" dirty="0"/>
          </a:p>
        </p:txBody>
      </p:sp>
      <p:sp>
        <p:nvSpPr>
          <p:cNvPr id="28" name="Texte 528"/>
          <p:cNvSpPr txBox="1"/>
          <p:nvPr/>
        </p:nvSpPr>
        <p:spPr>
          <a:xfrm>
            <a:off x="4612538" y="4892040"/>
            <a:ext cx="296661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Cadenza le refuse. Passez-le d’abord par une reconnaissance de caractères (OCR).</a:t>
            </a:r>
            <a:endParaRPr lang="en-US" sz="1500" dirty="0"/>
          </a:p>
        </p:txBody>
      </p:sp>
      <p:sp>
        <p:nvSpPr>
          <p:cNvPr id="29" name="Carte 529"/>
          <p:cNvSpPr/>
          <p:nvPr/>
        </p:nvSpPr>
        <p:spPr>
          <a:xfrm>
            <a:off x="8127797" y="3977640"/>
            <a:ext cx="3515258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astille 530"/>
          <p:cNvSpPr/>
          <p:nvPr/>
        </p:nvSpPr>
        <p:spPr>
          <a:xfrm>
            <a:off x="8402117" y="423367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Icône 53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0989" y="4352544"/>
            <a:ext cx="219456" cy="219456"/>
          </a:xfrm>
          <a:prstGeom prst="rect">
            <a:avLst/>
          </a:prstGeom>
        </p:spPr>
      </p:pic>
      <p:sp>
        <p:nvSpPr>
          <p:cNvPr id="32" name="Texte 532"/>
          <p:cNvSpPr txBox="1"/>
          <p:nvPr/>
        </p:nvSpPr>
        <p:spPr>
          <a:xfrm>
            <a:off x="8996477" y="4233672"/>
            <a:ext cx="2417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Oublier d’enregistrer</a:t>
            </a:r>
            <a:endParaRPr lang="en-US" sz="1700" dirty="0"/>
          </a:p>
        </p:txBody>
      </p:sp>
      <p:sp>
        <p:nvSpPr>
          <p:cNvPr id="33" name="Texte 533"/>
          <p:cNvSpPr txBox="1"/>
          <p:nvPr/>
        </p:nvSpPr>
        <p:spPr>
          <a:xfrm>
            <a:off x="8402117" y="4892040"/>
            <a:ext cx="296661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Cadenza n’enregistre pas tout seul :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Save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avant de fermer.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Autres démarches, et limites</a:t>
            </a:r>
            <a:endParaRPr lang="en-US" sz="3400" dirty="0"/>
          </a:p>
        </p:txBody>
      </p:sp>
      <p:sp>
        <p:nvSpPr>
          <p:cNvPr id="4" name="Texte 534"/>
          <p:cNvSpPr txBox="1"/>
          <p:nvPr/>
        </p:nvSpPr>
        <p:spPr>
          <a:xfrm>
            <a:off x="548640" y="15087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Cadenza convient aussi à</a:t>
            </a:r>
            <a:endParaRPr lang="en-US" sz="2000" dirty="0"/>
          </a:p>
        </p:txBody>
      </p:sp>
      <p:sp>
        <p:nvSpPr>
          <p:cNvPr id="5" name="Pastille 535"/>
          <p:cNvSpPr/>
          <p:nvPr/>
        </p:nvSpPr>
        <p:spPr>
          <a:xfrm>
            <a:off x="548640" y="210312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 53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267" y="2226747"/>
            <a:ext cx="228234" cy="228234"/>
          </a:xfrm>
          <a:prstGeom prst="rect">
            <a:avLst/>
          </a:prstGeom>
        </p:spPr>
      </p:pic>
      <p:sp>
        <p:nvSpPr>
          <p:cNvPr id="7" name="Texte 537"/>
          <p:cNvSpPr txBox="1"/>
          <p:nvPr/>
        </p:nvSpPr>
        <p:spPr>
          <a:xfrm>
            <a:off x="1207008" y="2103120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L’entretien compréhensif (Kaufmann)</a:t>
            </a:r>
            <a:endParaRPr lang="en-US" sz="1600" dirty="0"/>
          </a:p>
        </p:txBody>
      </p:sp>
      <p:sp>
        <p:nvSpPr>
          <p:cNvPr id="8" name="Texte 538"/>
          <p:cNvSpPr txBox="1"/>
          <p:nvPr/>
        </p:nvSpPr>
        <p:spPr>
          <a:xfrm>
            <a:off x="1207008" y="2468880"/>
            <a:ext cx="5010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Compare cases › Contrast one code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met un code côte à côte entre entretiens ;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Results draft › By case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suit la logique de chaque cas.</a:t>
            </a:r>
            <a:endParaRPr lang="en-US" sz="1400" dirty="0"/>
          </a:p>
        </p:txBody>
      </p:sp>
      <p:sp>
        <p:nvSpPr>
          <p:cNvPr id="9" name="Pastille 539"/>
          <p:cNvSpPr/>
          <p:nvPr/>
        </p:nvSpPr>
        <p:spPr>
          <a:xfrm>
            <a:off x="548640" y="3383280"/>
            <a:ext cx="475488" cy="47548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cône 54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67" y="3506907"/>
            <a:ext cx="228234" cy="228234"/>
          </a:xfrm>
          <a:prstGeom prst="rect">
            <a:avLst/>
          </a:prstGeom>
        </p:spPr>
      </p:pic>
      <p:sp>
        <p:nvSpPr>
          <p:cNvPr id="11" name="Texte 541"/>
          <p:cNvSpPr txBox="1"/>
          <p:nvPr/>
        </p:nvSpPr>
        <p:spPr>
          <a:xfrm>
            <a:off x="1207008" y="3383280"/>
            <a:ext cx="5010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 comparaison de groupes</a:t>
            </a:r>
            <a:endParaRPr lang="en-US" sz="1600" dirty="0"/>
          </a:p>
        </p:txBody>
      </p:sp>
      <p:sp>
        <p:nvSpPr>
          <p:cNvPr id="12" name="Texte 542"/>
          <p:cNvSpPr txBox="1"/>
          <p:nvPr/>
        </p:nvSpPr>
        <p:spPr>
          <a:xfrm>
            <a:off x="1207008" y="3749040"/>
            <a:ext cx="5010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+ Add case attribute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(rôle, site, ancienneté…) sous le titre d’un document, puis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Group cases by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dans Compare cases.</a:t>
            </a:r>
            <a:endParaRPr lang="en-US" sz="1400" dirty="0"/>
          </a:p>
        </p:txBody>
      </p:sp>
      <p:sp>
        <p:nvSpPr>
          <p:cNvPr id="13" name="Carte 543"/>
          <p:cNvSpPr/>
          <p:nvPr/>
        </p:nvSpPr>
        <p:spPr>
          <a:xfrm>
            <a:off x="548640" y="5120640"/>
            <a:ext cx="56692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astille 544"/>
          <p:cNvSpPr/>
          <p:nvPr/>
        </p:nvSpPr>
        <p:spPr>
          <a:xfrm>
            <a:off x="731520" y="5422392"/>
            <a:ext cx="402336" cy="40233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cône 54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27" y="5526999"/>
            <a:ext cx="193121" cy="193121"/>
          </a:xfrm>
          <a:prstGeom prst="rect">
            <a:avLst/>
          </a:prstGeom>
        </p:spPr>
      </p:pic>
      <p:sp>
        <p:nvSpPr>
          <p:cNvPr id="16" name="Texte 546"/>
          <p:cNvSpPr txBox="1"/>
          <p:nvPr/>
        </p:nvSpPr>
        <p:spPr>
          <a:xfrm>
            <a:off x="1298448" y="51206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Aucune démarche n’est imposée : codes, notes et clusters se combinent librement.</a:t>
            </a:r>
            <a:endParaRPr lang="en-US" sz="1400" dirty="0"/>
          </a:p>
        </p:txBody>
      </p:sp>
      <p:sp>
        <p:nvSpPr>
          <p:cNvPr id="17" name="Carte 547"/>
          <p:cNvSpPr/>
          <p:nvPr/>
        </p:nvSpPr>
        <p:spPr>
          <a:xfrm>
            <a:off x="6675120" y="1508760"/>
            <a:ext cx="4967935" cy="4617720"/>
          </a:xfrm>
          <a:prstGeom prst="roundRect">
            <a:avLst>
              <a:gd name="adj" fmla="val 158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e 548"/>
          <p:cNvSpPr txBox="1"/>
          <p:nvPr/>
        </p:nvSpPr>
        <p:spPr>
          <a:xfrm>
            <a:off x="6995160" y="1691640"/>
            <a:ext cx="4327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Ce que Cadenza ne fait pas</a:t>
            </a:r>
            <a:endParaRPr lang="en-US" sz="2000" dirty="0"/>
          </a:p>
        </p:txBody>
      </p:sp>
      <p:sp>
        <p:nvSpPr>
          <p:cNvPr id="19" name="Texte 549"/>
          <p:cNvSpPr txBox="1"/>
          <p:nvPr/>
        </p:nvSpPr>
        <p:spPr>
          <a:xfrm>
            <a:off x="6995160" y="2331720"/>
            <a:ext cx="432785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L’audio et la vidéo : il travaille sur du texte.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 travail à plusieurs sur un même projet.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 calcul d’un accord inter-juges.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Une interface en français, pour le moment.</a:t>
            </a:r>
            <a:endParaRPr lang="en-US" sz="1600" dirty="0"/>
          </a:p>
        </p:txBody>
      </p:sp>
      <p:sp>
        <p:nvSpPr>
          <p:cNvPr id="20" name="Texte 550"/>
          <p:cNvSpPr txBox="1"/>
          <p:nvPr/>
        </p:nvSpPr>
        <p:spPr>
          <a:xfrm>
            <a:off x="6995160" y="4800600"/>
            <a:ext cx="4327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Besoin d’un autre outil pour une étape ? L’export </a:t>
            </a:r>
            <a:pPr indent="0" marL="0">
              <a:buNone/>
            </a:pPr>
            <a:r>
              <a:rPr lang="en-US" sz="1400" b="1" dirty="0">
                <a:solidFill>
                  <a:srgbClr val="5B6070"/>
                </a:solidFill>
              </a:rPr>
              <a:t>REFI-QDA</a:t>
            </a:r>
            <a:pPr indent="0" marL="0">
              <a:buNone/>
            </a:pPr>
            <a:r>
              <a:rPr lang="en-US" sz="1400" dirty="0">
                <a:solidFill>
                  <a:srgbClr val="5B6070"/>
                </a:solidFill>
              </a:rPr>
              <a:t> emporte documents, codes, passages, notes et clusters.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Par où commencer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118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Quatre choses à faire aujourd’hui</a:t>
            </a:r>
            <a:endParaRPr lang="en-US" sz="2000" dirty="0"/>
          </a:p>
        </p:txBody>
      </p:sp>
      <p:sp>
        <p:nvSpPr>
          <p:cNvPr id="4" name="Pastille 551"/>
          <p:cNvSpPr/>
          <p:nvPr/>
        </p:nvSpPr>
        <p:spPr>
          <a:xfrm>
            <a:off x="822960" y="416052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Numéro 552"/>
          <p:cNvSpPr txBox="1"/>
          <p:nvPr/>
        </p:nvSpPr>
        <p:spPr>
          <a:xfrm>
            <a:off x="822960" y="4160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Étape 553"/>
          <p:cNvSpPr txBox="1"/>
          <p:nvPr/>
        </p:nvSpPr>
        <p:spPr>
          <a:xfrm>
            <a:off x="1280160" y="4160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Installez Cadenza et ouvrez le projet d’exemple.</a:t>
            </a:r>
            <a:endParaRPr lang="en-US" sz="1600" dirty="0"/>
          </a:p>
        </p:txBody>
      </p:sp>
      <p:sp>
        <p:nvSpPr>
          <p:cNvPr id="7" name="Pastille 554"/>
          <p:cNvSpPr/>
          <p:nvPr/>
        </p:nvSpPr>
        <p:spPr>
          <a:xfrm>
            <a:off x="822960" y="4562856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Numéro 555"/>
          <p:cNvSpPr txBox="1"/>
          <p:nvPr/>
        </p:nvSpPr>
        <p:spPr>
          <a:xfrm>
            <a:off x="822960" y="4562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Étape 556"/>
          <p:cNvSpPr txBox="1"/>
          <p:nvPr/>
        </p:nvSpPr>
        <p:spPr>
          <a:xfrm>
            <a:off x="1280160" y="45628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Importez un premier entretien et codez-en une page.</a:t>
            </a:r>
            <a:endParaRPr lang="en-US" sz="1600" dirty="0"/>
          </a:p>
        </p:txBody>
      </p:sp>
      <p:sp>
        <p:nvSpPr>
          <p:cNvPr id="10" name="Pastille 557"/>
          <p:cNvSpPr/>
          <p:nvPr/>
        </p:nvSpPr>
        <p:spPr>
          <a:xfrm>
            <a:off x="822960" y="4965192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Numéro 558"/>
          <p:cNvSpPr txBox="1"/>
          <p:nvPr/>
        </p:nvSpPr>
        <p:spPr>
          <a:xfrm>
            <a:off x="822960" y="4965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Étape 559"/>
          <p:cNvSpPr txBox="1"/>
          <p:nvPr/>
        </p:nvSpPr>
        <p:spPr>
          <a:xfrm>
            <a:off x="1280160" y="496519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Regroupez vos codes sur le tableau.</a:t>
            </a:r>
            <a:endParaRPr lang="en-US" sz="1600" dirty="0"/>
          </a:p>
        </p:txBody>
      </p:sp>
      <p:sp>
        <p:nvSpPr>
          <p:cNvPr id="13" name="Pastille 560"/>
          <p:cNvSpPr/>
          <p:nvPr/>
        </p:nvSpPr>
        <p:spPr>
          <a:xfrm>
            <a:off x="822960" y="5367528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Numéro 561"/>
          <p:cNvSpPr txBox="1"/>
          <p:nvPr/>
        </p:nvSpPr>
        <p:spPr>
          <a:xfrm>
            <a:off x="822960" y="53675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Étape 562"/>
          <p:cNvSpPr txBox="1"/>
          <p:nvPr/>
        </p:nvSpPr>
        <p:spPr>
          <a:xfrm>
            <a:off x="1280160" y="536752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Enregistrez, puis exportez un plan de résultats.</a:t>
            </a:r>
            <a:endParaRPr lang="en-US" sz="1600" dirty="0"/>
          </a:p>
        </p:txBody>
      </p:sp>
      <p:sp>
        <p:nvSpPr>
          <p:cNvPr id="16" name="Aide 563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Un problème, une idée ? </a:t>
            </a:r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Report a bug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 et </a:t>
            </a:r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Suggest something</a:t>
            </a:r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, en bas de l’écran d’accueil.   github.com/seelebrn/cadenza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denza">
  <a:themeElements>
    <a:clrScheme name="Cadenza">
      <a:dk1>
        <a:srgbClr val="1F2430"/>
      </a:dk1>
      <a:lt1>
        <a:srgbClr val="FFFFFF"/>
      </a:lt1>
      <a:dk2>
        <a:srgbClr val="3B1E4F"/>
      </a:dk2>
      <a:lt2>
        <a:srgbClr val="F5F0F9"/>
      </a:lt2>
      <a:accent1>
        <a:srgbClr val="7A3E9D"/>
      </a:accent1>
      <a:accent2>
        <a:srgbClr val="F2A93B"/>
      </a:accent2>
      <a:accent3>
        <a:srgbClr val="2E9E83"/>
      </a:accent3>
      <a:accent4>
        <a:srgbClr val="D9567A"/>
      </a:accent4>
      <a:accent5>
        <a:srgbClr val="4B7BD1"/>
      </a:accent5>
      <a:accent6>
        <a:srgbClr val="8A8F9C"/>
      </a:accent6>
      <a:hlink>
        <a:srgbClr val="7A3E9D"/>
      </a:hlink>
      <a:folHlink>
        <a:srgbClr val="5A2E75"/>
      </a:folHlink>
    </a:clrScheme>
    <a:fontScheme name="Cadenz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Cadenza — Guide de démarrage</dc:title>
  <dc:subject>PptxGenJS Presentation</dc:subject>
  <dc:creator>Cadenza</dc:creator>
  <cp:lastModifiedBy>Cadenza</cp:lastModifiedBy>
  <cp:revision>1</cp:revision>
  <dcterms:created xsi:type="dcterms:W3CDTF">2026-10-06T14:39:28Z</dcterms:created>
  <dcterms:modified xsi:type="dcterms:W3CDTF">2026-10-06T14:39:28Z</dcterms:modified>
</cp:coreProperties>
</file>